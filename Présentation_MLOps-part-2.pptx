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40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3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9062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810512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kern="0" spc="273" noProof="0" dirty="0">
                <a:solidFill>
                  <a:srgbClr val="8F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CRÉDIT EXPRESS</a:t>
            </a:r>
            <a:endParaRPr lang="fr-FR" sz="1950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3410694"/>
            <a:ext cx="13735050" cy="2058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770"/>
              </a:lnSpc>
              <a:buNone/>
            </a:pPr>
            <a:r>
              <a:rPr lang="fr-FR" sz="7800" b="1" kern="0" spc="-234" noProof="0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Mettre un modèle de </a:t>
            </a:r>
            <a:r>
              <a:rPr lang="fr-FR" sz="7800" b="1" kern="0" spc="-234" noProof="0" dirty="0" err="1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</a:t>
            </a:r>
            <a:r>
              <a:rPr lang="fr-FR" sz="7800" b="1" kern="0" spc="-234" noProof="0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production</a:t>
            </a:r>
            <a:endParaRPr lang="fr-FR" sz="78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5698182"/>
            <a:ext cx="13735050" cy="1078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577"/>
              </a:lnSpc>
              <a:buNone/>
            </a:pPr>
            <a:r>
              <a:rPr lang="fr-FR" sz="3150" noProof="0" dirty="0">
                <a:solidFill>
                  <a:srgbClr val="B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modèle existe déjà. La mission consiste à le rendre utilisable et fiable au quotidien.</a:t>
            </a:r>
            <a:endParaRPr lang="fr-FR" sz="3150" noProof="0" dirty="0"/>
          </a:p>
        </p:txBody>
      </p:sp>
      <p:sp>
        <p:nvSpPr>
          <p:cNvPr id="5" name="Shape 3"/>
          <p:cNvSpPr/>
          <p:nvPr/>
        </p:nvSpPr>
        <p:spPr>
          <a:xfrm>
            <a:off x="914400" y="9029700"/>
            <a:ext cx="666750" cy="571500"/>
          </a:xfrm>
          <a:prstGeom prst="roundRect">
            <a:avLst>
              <a:gd name="adj" fmla="val 16667"/>
            </a:avLst>
          </a:prstGeom>
          <a:solidFill>
            <a:srgbClr val="F2F1E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85850" y="9153525"/>
            <a:ext cx="323850" cy="3238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771650" y="9029700"/>
            <a:ext cx="1070223" cy="571500"/>
          </a:xfrm>
          <a:prstGeom prst="roundRect">
            <a:avLst>
              <a:gd name="adj" fmla="val 16667"/>
            </a:avLst>
          </a:prstGeom>
          <a:solidFill>
            <a:srgbClr val="F2F1E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1943100" y="9182100"/>
            <a:ext cx="727323" cy="2667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032373" y="9029700"/>
            <a:ext cx="729183" cy="571500"/>
          </a:xfrm>
          <a:prstGeom prst="roundRect">
            <a:avLst>
              <a:gd name="adj" fmla="val 16667"/>
            </a:avLst>
          </a:prstGeom>
          <a:solidFill>
            <a:srgbClr val="F2F1E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t="-4" b="-4"/>
          <a:stretch/>
        </p:blipFill>
        <p:spPr>
          <a:xfrm>
            <a:off x="3203823" y="9163050"/>
            <a:ext cx="386283" cy="3048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952056" y="9029700"/>
            <a:ext cx="666750" cy="571500"/>
          </a:xfrm>
          <a:prstGeom prst="roundRect">
            <a:avLst>
              <a:gd name="adj" fmla="val 16667"/>
            </a:avLst>
          </a:prstGeom>
          <a:solidFill>
            <a:srgbClr val="F2F1E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123506" y="9153525"/>
            <a:ext cx="323850" cy="32385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809306" y="9029700"/>
            <a:ext cx="662880" cy="571500"/>
          </a:xfrm>
          <a:prstGeom prst="roundRect">
            <a:avLst>
              <a:gd name="adj" fmla="val 16667"/>
            </a:avLst>
          </a:prstGeom>
          <a:solidFill>
            <a:srgbClr val="F2F1E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 t="-2" b="-2"/>
          <a:stretch/>
        </p:blipFill>
        <p:spPr>
          <a:xfrm>
            <a:off x="4980756" y="9153525"/>
            <a:ext cx="319980" cy="32385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5662687" y="9029700"/>
            <a:ext cx="689521" cy="571500"/>
          </a:xfrm>
          <a:prstGeom prst="roundRect">
            <a:avLst>
              <a:gd name="adj" fmla="val 16667"/>
            </a:avLst>
          </a:prstGeom>
          <a:solidFill>
            <a:srgbClr val="F2F1E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rcRect t="-10" b="-10"/>
          <a:stretch/>
        </p:blipFill>
        <p:spPr>
          <a:xfrm>
            <a:off x="5834137" y="9144000"/>
            <a:ext cx="346621" cy="34290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6542708" y="9029700"/>
            <a:ext cx="685800" cy="571500"/>
          </a:xfrm>
          <a:prstGeom prst="roundRect">
            <a:avLst>
              <a:gd name="adj" fmla="val 16667"/>
            </a:avLst>
          </a:prstGeom>
          <a:solidFill>
            <a:srgbClr val="F2F1E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714158" y="9144000"/>
            <a:ext cx="342900" cy="342900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7419008" y="9029700"/>
            <a:ext cx="651346" cy="571500"/>
          </a:xfrm>
          <a:prstGeom prst="roundRect">
            <a:avLst>
              <a:gd name="adj" fmla="val 16667"/>
            </a:avLst>
          </a:prstGeom>
          <a:solidFill>
            <a:srgbClr val="F2F1E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rcRect t="-4" b="-4"/>
          <a:stretch/>
        </p:blipFill>
        <p:spPr>
          <a:xfrm>
            <a:off x="7590458" y="9144000"/>
            <a:ext cx="30844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810512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kern="0" spc="273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CONTEXTE</a:t>
            </a:r>
            <a:endParaRPr lang="fr-FR" sz="1950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1290638"/>
            <a:ext cx="18105120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4650" b="1" kern="0" spc="-93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et objectifs</a:t>
            </a:r>
            <a:endParaRPr lang="fr-FR" sz="465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2352675"/>
            <a:ext cx="8281193" cy="1622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309"/>
              </a:lnSpc>
              <a:buNone/>
            </a:pPr>
            <a:r>
              <a:rPr lang="fr-FR" sz="3150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 Express veut un score de risque presque immédiat pour chaque dossier client.</a:t>
            </a:r>
            <a:endParaRPr lang="fr-FR" sz="3150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4165402"/>
            <a:ext cx="8281193" cy="174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081"/>
              </a:lnSpc>
              <a:buNone/>
            </a:pPr>
            <a:r>
              <a:rPr lang="fr-FR" sz="24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modèle est donné par le registre. Ce qui reste à construire, c'est le service qui le rend utilisable : un contrat d'entrée clair, une trace de chaque décision, des signaux d'exploitation et une livraison automatisée.</a:t>
            </a:r>
            <a:endParaRPr lang="fr-FR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9716393" y="2352675"/>
            <a:ext cx="842292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kern="0" spc="195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 QUE L'API DOIT REMPLIR</a:t>
            </a:r>
            <a:endParaRPr lang="fr-FR" sz="1950" noProof="0" dirty="0"/>
          </a:p>
        </p:txBody>
      </p:sp>
      <p:sp>
        <p:nvSpPr>
          <p:cNvPr id="7" name="Shape 5"/>
          <p:cNvSpPr/>
          <p:nvPr/>
        </p:nvSpPr>
        <p:spPr>
          <a:xfrm>
            <a:off x="9716393" y="2805113"/>
            <a:ext cx="7657207" cy="70485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9935468" y="3019425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2A7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fr-FR" sz="1950" noProof="0" dirty="0"/>
          </a:p>
        </p:txBody>
      </p:sp>
      <p:sp>
        <p:nvSpPr>
          <p:cNvPr id="9" name="Text 7"/>
          <p:cNvSpPr/>
          <p:nvPr/>
        </p:nvSpPr>
        <p:spPr>
          <a:xfrm>
            <a:off x="10423178" y="2957513"/>
            <a:ext cx="312622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400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Répondre en continu</a:t>
            </a:r>
            <a:endParaRPr lang="fr-FR" sz="2400" noProof="0" dirty="0"/>
          </a:p>
        </p:txBody>
      </p:sp>
      <p:sp>
        <p:nvSpPr>
          <p:cNvPr id="10" name="Shape 8"/>
          <p:cNvSpPr/>
          <p:nvPr/>
        </p:nvSpPr>
        <p:spPr>
          <a:xfrm>
            <a:off x="9716393" y="3605213"/>
            <a:ext cx="7657207" cy="70485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9935468" y="3819525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2A7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fr-FR" sz="1950" noProof="0" dirty="0"/>
          </a:p>
        </p:txBody>
      </p:sp>
      <p:sp>
        <p:nvSpPr>
          <p:cNvPr id="12" name="Text 10"/>
          <p:cNvSpPr/>
          <p:nvPr/>
        </p:nvSpPr>
        <p:spPr>
          <a:xfrm>
            <a:off x="10423178" y="3757613"/>
            <a:ext cx="595531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400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N'accepter que des données conformes</a:t>
            </a:r>
            <a:endParaRPr lang="fr-FR" sz="2400" noProof="0" dirty="0"/>
          </a:p>
        </p:txBody>
      </p:sp>
      <p:sp>
        <p:nvSpPr>
          <p:cNvPr id="13" name="Shape 11"/>
          <p:cNvSpPr/>
          <p:nvPr/>
        </p:nvSpPr>
        <p:spPr>
          <a:xfrm>
            <a:off x="9716393" y="4405313"/>
            <a:ext cx="7657207" cy="70485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9935468" y="4619625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2A7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fr-FR" sz="1950" noProof="0" dirty="0"/>
          </a:p>
        </p:txBody>
      </p:sp>
      <p:sp>
        <p:nvSpPr>
          <p:cNvPr id="15" name="Text 13"/>
          <p:cNvSpPr/>
          <p:nvPr/>
        </p:nvSpPr>
        <p:spPr>
          <a:xfrm>
            <a:off x="10423178" y="4557713"/>
            <a:ext cx="548186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400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Garder la trace de chaque prédiction</a:t>
            </a:r>
            <a:endParaRPr lang="fr-FR" sz="2400" noProof="0" dirty="0"/>
          </a:p>
        </p:txBody>
      </p:sp>
      <p:sp>
        <p:nvSpPr>
          <p:cNvPr id="16" name="Shape 14"/>
          <p:cNvSpPr/>
          <p:nvPr/>
        </p:nvSpPr>
        <p:spPr>
          <a:xfrm>
            <a:off x="9716393" y="5205413"/>
            <a:ext cx="7657207" cy="70485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5"/>
          <p:cNvSpPr/>
          <p:nvPr/>
        </p:nvSpPr>
        <p:spPr>
          <a:xfrm>
            <a:off x="9935468" y="5419725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2A7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fr-FR" sz="1950" noProof="0" dirty="0"/>
          </a:p>
        </p:txBody>
      </p:sp>
      <p:sp>
        <p:nvSpPr>
          <p:cNvPr id="18" name="Text 16"/>
          <p:cNvSpPr/>
          <p:nvPr/>
        </p:nvSpPr>
        <p:spPr>
          <a:xfrm>
            <a:off x="10423178" y="5357813"/>
            <a:ext cx="576851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400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Rendre son comportement observable</a:t>
            </a:r>
            <a:endParaRPr lang="fr-FR" sz="2400" noProof="0" dirty="0"/>
          </a:p>
        </p:txBody>
      </p:sp>
      <p:sp>
        <p:nvSpPr>
          <p:cNvPr id="19" name="Shape 17"/>
          <p:cNvSpPr/>
          <p:nvPr/>
        </p:nvSpPr>
        <p:spPr>
          <a:xfrm>
            <a:off x="9716393" y="6005513"/>
            <a:ext cx="7657207" cy="70485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9935468" y="6219825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2A7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fr-FR" sz="1950" noProof="0" dirty="0"/>
          </a:p>
        </p:txBody>
      </p:sp>
      <p:sp>
        <p:nvSpPr>
          <p:cNvPr id="21" name="Text 19"/>
          <p:cNvSpPr/>
          <p:nvPr/>
        </p:nvSpPr>
        <p:spPr>
          <a:xfrm>
            <a:off x="10423178" y="6157913"/>
            <a:ext cx="486966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400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Tenir un temps de réponse court</a:t>
            </a:r>
            <a:endParaRPr lang="fr-FR" sz="2400" noProof="0" dirty="0"/>
          </a:p>
        </p:txBody>
      </p:sp>
      <p:sp>
        <p:nvSpPr>
          <p:cNvPr id="22" name="Shape 20"/>
          <p:cNvSpPr/>
          <p:nvPr/>
        </p:nvSpPr>
        <p:spPr>
          <a:xfrm>
            <a:off x="9716393" y="6805613"/>
            <a:ext cx="7657207" cy="70485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21"/>
          <p:cNvSpPr/>
          <p:nvPr/>
        </p:nvSpPr>
        <p:spPr>
          <a:xfrm>
            <a:off x="9935468" y="7019925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2A7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fr-FR" sz="1950" noProof="0" dirty="0"/>
          </a:p>
        </p:txBody>
      </p:sp>
      <p:sp>
        <p:nvSpPr>
          <p:cNvPr id="24" name="Text 22"/>
          <p:cNvSpPr/>
          <p:nvPr/>
        </p:nvSpPr>
        <p:spPr>
          <a:xfrm>
            <a:off x="10423178" y="6958013"/>
            <a:ext cx="313858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400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Détecter un </a:t>
            </a:r>
            <a:r>
              <a:rPr lang="fr-FR" sz="2400" noProof="0" dirty="0" err="1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datadrift</a:t>
            </a:r>
            <a:endParaRPr lang="fr-FR" sz="24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6760852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3900" b="1" kern="0" spc="-78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en déploiement</a:t>
            </a:r>
            <a:endParaRPr lang="fr-FR" sz="3900" noProof="0" dirty="0"/>
          </a:p>
        </p:txBody>
      </p:sp>
      <p:sp>
        <p:nvSpPr>
          <p:cNvPr id="3" name="Text 1"/>
          <p:cNvSpPr/>
          <p:nvPr/>
        </p:nvSpPr>
        <p:spPr>
          <a:xfrm>
            <a:off x="7327329" y="714375"/>
            <a:ext cx="731026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produit le score, ce qui le conserve, ce qui le surveille</a:t>
            </a:r>
            <a:endParaRPr lang="fr-FR" sz="1950" noProof="0" dirty="0"/>
          </a:p>
        </p:txBody>
      </p:sp>
      <p:sp>
        <p:nvSpPr>
          <p:cNvPr id="4" name="Shape 2"/>
          <p:cNvSpPr/>
          <p:nvPr/>
        </p:nvSpPr>
        <p:spPr>
          <a:xfrm>
            <a:off x="914400" y="1262063"/>
            <a:ext cx="6667500" cy="1250379"/>
          </a:xfrm>
          <a:prstGeom prst="roundRect">
            <a:avLst>
              <a:gd name="adj" fmla="val 9141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3493740" y="1385888"/>
            <a:ext cx="16597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2A7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Utilisateur</a:t>
            </a:r>
            <a:endParaRPr lang="fr-FR" sz="1800" noProof="0" dirty="0"/>
          </a:p>
        </p:txBody>
      </p:sp>
      <p:sp>
        <p:nvSpPr>
          <p:cNvPr id="6" name="Text 4"/>
          <p:cNvSpPr/>
          <p:nvPr/>
        </p:nvSpPr>
        <p:spPr>
          <a:xfrm>
            <a:off x="3018086" y="1738313"/>
            <a:ext cx="2706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 un score</a:t>
            </a:r>
            <a:endParaRPr lang="fr-FR" sz="2250" noProof="0" dirty="0"/>
          </a:p>
        </p:txBody>
      </p:sp>
      <p:sp>
        <p:nvSpPr>
          <p:cNvPr id="7" name="Text 5"/>
          <p:cNvSpPr/>
          <p:nvPr/>
        </p:nvSpPr>
        <p:spPr>
          <a:xfrm>
            <a:off x="2023973" y="2109788"/>
            <a:ext cx="4448354" cy="316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6473"/>
              </a:lnSpc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Envoie un dossier client de 50 variables</a:t>
            </a:r>
            <a:endParaRPr lang="fr-FR" sz="1800" noProof="0" dirty="0"/>
          </a:p>
        </p:txBody>
      </p:sp>
      <p:sp>
        <p:nvSpPr>
          <p:cNvPr id="8" name="Shape 6"/>
          <p:cNvSpPr/>
          <p:nvPr/>
        </p:nvSpPr>
        <p:spPr>
          <a:xfrm>
            <a:off x="8801100" y="1262063"/>
            <a:ext cx="8572500" cy="1250379"/>
          </a:xfrm>
          <a:prstGeom prst="roundRect">
            <a:avLst>
              <a:gd name="adj" fmla="val 9141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12749659" y="1385888"/>
            <a:ext cx="675382" cy="2476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611695" y="1690688"/>
            <a:ext cx="102750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 err="1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</a:t>
            </a:r>
            <a:endParaRPr lang="fr-FR" sz="2250" noProof="0" dirty="0"/>
          </a:p>
        </p:txBody>
      </p:sp>
      <p:sp>
        <p:nvSpPr>
          <p:cNvPr id="11" name="Text 8"/>
          <p:cNvSpPr/>
          <p:nvPr/>
        </p:nvSpPr>
        <p:spPr>
          <a:xfrm>
            <a:off x="9214850" y="2062163"/>
            <a:ext cx="7745001" cy="316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6473"/>
              </a:lnSpc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Registre des modèles : conserve les versions et désigne celle à servir</a:t>
            </a:r>
            <a:endParaRPr lang="fr-FR" sz="1800" noProof="0" dirty="0"/>
          </a:p>
        </p:txBody>
      </p:sp>
      <p:sp>
        <p:nvSpPr>
          <p:cNvPr id="12" name="Shape 9"/>
          <p:cNvSpPr/>
          <p:nvPr/>
        </p:nvSpPr>
        <p:spPr>
          <a:xfrm>
            <a:off x="4238625" y="2637606"/>
            <a:ext cx="19050" cy="24765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0"/>
          <p:cNvSpPr/>
          <p:nvPr/>
        </p:nvSpPr>
        <p:spPr>
          <a:xfrm>
            <a:off x="4171950" y="2885256"/>
            <a:ext cx="152400" cy="104775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1"/>
          <p:cNvSpPr/>
          <p:nvPr/>
        </p:nvSpPr>
        <p:spPr>
          <a:xfrm>
            <a:off x="3287985" y="2990031"/>
            <a:ext cx="21122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dossier client</a:t>
            </a:r>
            <a:endParaRPr lang="fr-FR" sz="1800" noProof="0" dirty="0"/>
          </a:p>
        </p:txBody>
      </p:sp>
      <p:sp>
        <p:nvSpPr>
          <p:cNvPr id="15" name="Shape 12"/>
          <p:cNvSpPr/>
          <p:nvPr/>
        </p:nvSpPr>
        <p:spPr>
          <a:xfrm>
            <a:off x="13077825" y="2637606"/>
            <a:ext cx="19050" cy="24765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3"/>
          <p:cNvSpPr/>
          <p:nvPr/>
        </p:nvSpPr>
        <p:spPr>
          <a:xfrm>
            <a:off x="13011150" y="2885256"/>
            <a:ext cx="152400" cy="104775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4"/>
          <p:cNvSpPr/>
          <p:nvPr/>
        </p:nvSpPr>
        <p:spPr>
          <a:xfrm>
            <a:off x="11029950" y="2990031"/>
            <a:ext cx="45262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fournit le modèle au démarrage</a:t>
            </a:r>
            <a:endParaRPr lang="fr-FR" sz="1800" noProof="0" dirty="0"/>
          </a:p>
        </p:txBody>
      </p:sp>
      <p:sp>
        <p:nvSpPr>
          <p:cNvPr id="18" name="Shape 15"/>
          <p:cNvSpPr/>
          <p:nvPr/>
        </p:nvSpPr>
        <p:spPr>
          <a:xfrm>
            <a:off x="723900" y="3410545"/>
            <a:ext cx="16840200" cy="2215009"/>
          </a:xfrm>
          <a:prstGeom prst="roundRect">
            <a:avLst>
              <a:gd name="adj" fmla="val 6880"/>
            </a:avLst>
          </a:prstGeom>
          <a:solidFill>
            <a:srgbClr val="FFFFFF">
              <a:alpha val="55000"/>
            </a:srgbClr>
          </a:solidFill>
          <a:ln w="19050">
            <a:solidFill>
              <a:srgbClr val="B7B4AD"/>
            </a:solidFill>
            <a:prstDash val="dash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 t="-12" b="-12"/>
          <a:stretch/>
        </p:blipFill>
        <p:spPr>
          <a:xfrm>
            <a:off x="933450" y="3605808"/>
            <a:ext cx="313804" cy="2476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361554" y="3593902"/>
            <a:ext cx="57350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195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</a:t>
            </a:r>
            <a:endParaRPr lang="fr-FR" sz="1950" noProof="0" dirty="0"/>
          </a:p>
        </p:txBody>
      </p:sp>
      <p:sp>
        <p:nvSpPr>
          <p:cNvPr id="21" name="Text 17"/>
          <p:cNvSpPr/>
          <p:nvPr/>
        </p:nvSpPr>
        <p:spPr>
          <a:xfrm>
            <a:off x="1973163" y="3581995"/>
            <a:ext cx="352674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conteneurs déployés ensemble</a:t>
            </a:r>
            <a:endParaRPr lang="fr-FR" sz="1800" noProof="0" dirty="0"/>
          </a:p>
        </p:txBody>
      </p:sp>
      <p:sp>
        <p:nvSpPr>
          <p:cNvPr id="22" name="Shape 18"/>
          <p:cNvSpPr/>
          <p:nvPr/>
        </p:nvSpPr>
        <p:spPr>
          <a:xfrm>
            <a:off x="933450" y="3972520"/>
            <a:ext cx="6650980" cy="1481584"/>
          </a:xfrm>
          <a:prstGeom prst="roundRect">
            <a:avLst>
              <a:gd name="adj" fmla="val 7715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135115" y="4096345"/>
            <a:ext cx="247650" cy="24765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303240" y="4401145"/>
            <a:ext cx="21025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de </a:t>
            </a:r>
            <a:r>
              <a:rPr lang="fr-FR" sz="2250" b="1" noProof="0" dirty="0" err="1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</a:t>
            </a:r>
            <a:endParaRPr lang="fr-FR" sz="2250" noProof="0" dirty="0"/>
          </a:p>
        </p:txBody>
      </p:sp>
      <p:sp>
        <p:nvSpPr>
          <p:cNvPr id="25" name="Text 20"/>
          <p:cNvSpPr/>
          <p:nvPr/>
        </p:nvSpPr>
        <p:spPr>
          <a:xfrm>
            <a:off x="1039711" y="4772620"/>
            <a:ext cx="6438458" cy="59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6473"/>
              </a:lnSpc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 les données puis calcule le score avec le modèle ONNX chargé au démarrage (donné par le registre </a:t>
            </a:r>
            <a:r>
              <a:rPr lang="fr-FR" sz="1800" noProof="0" dirty="0" err="1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</a:t>
            </a: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fr-FR" sz="1800" noProof="0" dirty="0"/>
          </a:p>
        </p:txBody>
      </p:sp>
      <p:sp>
        <p:nvSpPr>
          <p:cNvPr id="26" name="Shape 21"/>
          <p:cNvSpPr/>
          <p:nvPr/>
        </p:nvSpPr>
        <p:spPr>
          <a:xfrm>
            <a:off x="8803630" y="3972520"/>
            <a:ext cx="8550920" cy="1481584"/>
          </a:xfrm>
          <a:prstGeom prst="roundRect">
            <a:avLst>
              <a:gd name="adj" fmla="val 7715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t="-6" b="-6"/>
          <a:stretch/>
        </p:blipFill>
        <p:spPr>
          <a:xfrm>
            <a:off x="12956753" y="4096345"/>
            <a:ext cx="244673" cy="24765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2744748" y="4401145"/>
            <a:ext cx="74488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Alloy</a:t>
            </a:r>
            <a:endParaRPr lang="fr-FR" sz="2250" noProof="0" dirty="0"/>
          </a:p>
        </p:txBody>
      </p:sp>
      <p:sp>
        <p:nvSpPr>
          <p:cNvPr id="29" name="Text 23"/>
          <p:cNvSpPr/>
          <p:nvPr/>
        </p:nvSpPr>
        <p:spPr>
          <a:xfrm>
            <a:off x="9018326" y="4772620"/>
            <a:ext cx="8121454" cy="316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6473"/>
              </a:lnSpc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Collecteur local : récupère sur place les mesures et les journaux de l'API</a:t>
            </a:r>
            <a:endParaRPr lang="fr-FR" sz="1800" noProof="0" dirty="0"/>
          </a:p>
        </p:txBody>
      </p:sp>
      <p:sp>
        <p:nvSpPr>
          <p:cNvPr id="30" name="Shape 24"/>
          <p:cNvSpPr/>
          <p:nvPr/>
        </p:nvSpPr>
        <p:spPr>
          <a:xfrm>
            <a:off x="4238625" y="5750719"/>
            <a:ext cx="19050" cy="24765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Shape 25"/>
          <p:cNvSpPr/>
          <p:nvPr/>
        </p:nvSpPr>
        <p:spPr>
          <a:xfrm>
            <a:off x="4171950" y="5998369"/>
            <a:ext cx="152400" cy="104775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Text 26"/>
          <p:cNvSpPr/>
          <p:nvPr/>
        </p:nvSpPr>
        <p:spPr>
          <a:xfrm>
            <a:off x="3493740" y="6103144"/>
            <a:ext cx="16597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prédictions</a:t>
            </a:r>
            <a:endParaRPr lang="fr-FR" sz="1800" noProof="0" dirty="0"/>
          </a:p>
        </p:txBody>
      </p:sp>
      <p:sp>
        <p:nvSpPr>
          <p:cNvPr id="33" name="Shape 27"/>
          <p:cNvSpPr/>
          <p:nvPr/>
        </p:nvSpPr>
        <p:spPr>
          <a:xfrm>
            <a:off x="13077825" y="5750719"/>
            <a:ext cx="19050" cy="24765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Shape 28"/>
          <p:cNvSpPr/>
          <p:nvPr/>
        </p:nvSpPr>
        <p:spPr>
          <a:xfrm>
            <a:off x="13011150" y="5998369"/>
            <a:ext cx="152400" cy="104775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 29"/>
          <p:cNvSpPr/>
          <p:nvPr/>
        </p:nvSpPr>
        <p:spPr>
          <a:xfrm>
            <a:off x="11784285" y="6103144"/>
            <a:ext cx="28666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mesures et journaux</a:t>
            </a:r>
            <a:endParaRPr lang="fr-FR" sz="1800" noProof="0" dirty="0"/>
          </a:p>
        </p:txBody>
      </p:sp>
      <p:sp>
        <p:nvSpPr>
          <p:cNvPr id="36" name="Shape 30"/>
          <p:cNvSpPr/>
          <p:nvPr/>
        </p:nvSpPr>
        <p:spPr>
          <a:xfrm>
            <a:off x="914400" y="6523583"/>
            <a:ext cx="6667500" cy="1500634"/>
          </a:xfrm>
          <a:prstGeom prst="roundRect">
            <a:avLst>
              <a:gd name="adj" fmla="val 7617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114800" y="6647408"/>
            <a:ext cx="266700" cy="26670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584004" y="6971258"/>
            <a:ext cx="14610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 err="1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fr-FR" sz="2250" noProof="0" dirty="0"/>
          </a:p>
        </p:txBody>
      </p:sp>
      <p:sp>
        <p:nvSpPr>
          <p:cNvPr id="39" name="Text 32"/>
          <p:cNvSpPr/>
          <p:nvPr/>
        </p:nvSpPr>
        <p:spPr>
          <a:xfrm>
            <a:off x="1020413" y="7342733"/>
            <a:ext cx="6455474" cy="59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6473"/>
              </a:lnSpc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PostgreSQL managée : persiste chaque prédiction envoyée par l'API</a:t>
            </a:r>
            <a:endParaRPr lang="fr-FR" sz="1800" noProof="0" dirty="0"/>
          </a:p>
        </p:txBody>
      </p:sp>
      <p:sp>
        <p:nvSpPr>
          <p:cNvPr id="40" name="Shape 33"/>
          <p:cNvSpPr/>
          <p:nvPr/>
        </p:nvSpPr>
        <p:spPr>
          <a:xfrm>
            <a:off x="8801100" y="6523583"/>
            <a:ext cx="8572500" cy="1500634"/>
          </a:xfrm>
          <a:prstGeom prst="roundRect">
            <a:avLst>
              <a:gd name="adj" fmla="val 8886"/>
            </a:avLst>
          </a:prstGeom>
          <a:solidFill>
            <a:srgbClr val="FFFFFF">
              <a:alpha val="55000"/>
            </a:srgbClr>
          </a:solidFill>
          <a:ln w="19050">
            <a:solidFill>
              <a:srgbClr val="B7B4AD"/>
            </a:solidFill>
            <a:prstDash val="dash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Shape 34"/>
          <p:cNvSpPr/>
          <p:nvPr/>
        </p:nvSpPr>
        <p:spPr>
          <a:xfrm>
            <a:off x="8934450" y="6656933"/>
            <a:ext cx="4076700" cy="1233934"/>
          </a:xfrm>
          <a:prstGeom prst="roundRect">
            <a:avLst>
              <a:gd name="adj" fmla="val 9263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rcRect t="-12" b="-12"/>
          <a:stretch/>
        </p:blipFill>
        <p:spPr>
          <a:xfrm>
            <a:off x="10847636" y="6761708"/>
            <a:ext cx="250329" cy="24765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0222706" y="7047458"/>
            <a:ext cx="16502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10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fr-FR" sz="2100" noProof="0" dirty="0"/>
          </a:p>
        </p:txBody>
      </p:sp>
      <p:sp>
        <p:nvSpPr>
          <p:cNvPr id="44" name="Text 36"/>
          <p:cNvSpPr/>
          <p:nvPr/>
        </p:nvSpPr>
        <p:spPr>
          <a:xfrm>
            <a:off x="9734327" y="7376071"/>
            <a:ext cx="247694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4727"/>
              </a:lnSpc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Conserve les mesures</a:t>
            </a:r>
            <a:endParaRPr lang="fr-FR" sz="1800" noProof="0" dirty="0"/>
          </a:p>
        </p:txBody>
      </p:sp>
      <p:sp>
        <p:nvSpPr>
          <p:cNvPr id="45" name="Shape 37"/>
          <p:cNvSpPr/>
          <p:nvPr/>
        </p:nvSpPr>
        <p:spPr>
          <a:xfrm>
            <a:off x="13163550" y="6656933"/>
            <a:ext cx="4076700" cy="1233934"/>
          </a:xfrm>
          <a:prstGeom prst="roundRect">
            <a:avLst>
              <a:gd name="adj" fmla="val 9263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5078075" y="6761708"/>
            <a:ext cx="247650" cy="24765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4940111" y="7047458"/>
            <a:ext cx="59977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10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Loki</a:t>
            </a:r>
            <a:endParaRPr lang="fr-FR" sz="2100" noProof="0" dirty="0"/>
          </a:p>
        </p:txBody>
      </p:sp>
      <p:sp>
        <p:nvSpPr>
          <p:cNvPr id="48" name="Text 39"/>
          <p:cNvSpPr/>
          <p:nvPr/>
        </p:nvSpPr>
        <p:spPr>
          <a:xfrm>
            <a:off x="13410493" y="7376071"/>
            <a:ext cx="3582814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4727"/>
              </a:lnSpc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Conserve et indexe les journaux</a:t>
            </a:r>
            <a:endParaRPr lang="fr-FR" sz="1800" noProof="0" dirty="0"/>
          </a:p>
        </p:txBody>
      </p:sp>
      <p:sp>
        <p:nvSpPr>
          <p:cNvPr id="49" name="Shape 40"/>
          <p:cNvSpPr/>
          <p:nvPr/>
        </p:nvSpPr>
        <p:spPr>
          <a:xfrm>
            <a:off x="13077825" y="8149456"/>
            <a:ext cx="19050" cy="22860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0" name="Shape 41"/>
          <p:cNvSpPr/>
          <p:nvPr/>
        </p:nvSpPr>
        <p:spPr>
          <a:xfrm>
            <a:off x="13011150" y="8378056"/>
            <a:ext cx="152400" cy="104775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1" name="Shape 42"/>
          <p:cNvSpPr/>
          <p:nvPr/>
        </p:nvSpPr>
        <p:spPr>
          <a:xfrm>
            <a:off x="8801100" y="8607996"/>
            <a:ext cx="8572500" cy="1221804"/>
          </a:xfrm>
          <a:prstGeom prst="roundRect">
            <a:avLst>
              <a:gd name="adj" fmla="val 9355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10"/>
          <a:srcRect t="-3" b="-3"/>
          <a:stretch/>
        </p:blipFill>
        <p:spPr>
          <a:xfrm>
            <a:off x="12967395" y="8731821"/>
            <a:ext cx="239911" cy="266700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12558713" y="9055671"/>
            <a:ext cx="11334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 err="1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fr-FR" sz="2250" noProof="0" dirty="0"/>
          </a:p>
        </p:txBody>
      </p:sp>
      <p:sp>
        <p:nvSpPr>
          <p:cNvPr id="54" name="Text 44"/>
          <p:cNvSpPr/>
          <p:nvPr/>
        </p:nvSpPr>
        <p:spPr>
          <a:xfrm>
            <a:off x="9743554" y="9427146"/>
            <a:ext cx="6687592" cy="316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6473"/>
              </a:lnSpc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Consomme les deux sources et affiche les tableaux de bord</a:t>
            </a:r>
            <a:endParaRPr lang="fr-FR" sz="18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19100"/>
            <a:ext cx="1810512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kern="0" spc="273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API DE SCORING</a:t>
            </a:r>
            <a:endParaRPr lang="fr-FR" sz="1950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833438"/>
            <a:ext cx="18105120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3900" b="1" kern="0" spc="-78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Déroulé d'une requête</a:t>
            </a:r>
            <a:endParaRPr lang="fr-FR" sz="3900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466850"/>
            <a:ext cx="16459200" cy="80867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648825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comportement de </a:t>
            </a:r>
            <a:r>
              <a:rPr lang="fr-FR" sz="1800" noProof="0" dirty="0" err="1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l'endpoint</a:t>
            </a: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 garanti, pas au mieux : chaque appel produit soit une réponse persistée, soit une erreur elle aussi persistée.</a:t>
            </a:r>
            <a:endParaRPr lang="fr-FR" sz="18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8105120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4650" b="1" kern="0" spc="-93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entre, ce qui sort, ce qui reste</a:t>
            </a:r>
            <a:endParaRPr lang="fr-FR" sz="4650" noProof="0" dirty="0"/>
          </a:p>
        </p:txBody>
      </p:sp>
      <p:sp>
        <p:nvSpPr>
          <p:cNvPr id="3" name="Shape 1"/>
          <p:cNvSpPr/>
          <p:nvPr/>
        </p:nvSpPr>
        <p:spPr>
          <a:xfrm>
            <a:off x="984870" y="1557338"/>
            <a:ext cx="41338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2708895" y="1700213"/>
            <a:ext cx="762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2A7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saisi</a:t>
            </a:r>
            <a:endParaRPr lang="fr-FR" sz="1800" noProof="0" dirty="0"/>
          </a:p>
        </p:txBody>
      </p:sp>
      <p:sp>
        <p:nvSpPr>
          <p:cNvPr id="5" name="Text 3"/>
          <p:cNvSpPr/>
          <p:nvPr/>
        </p:nvSpPr>
        <p:spPr>
          <a:xfrm>
            <a:off x="2155478" y="2052637"/>
            <a:ext cx="19718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client</a:t>
            </a:r>
            <a:endParaRPr lang="fr-FR" sz="2250" noProof="0" dirty="0"/>
          </a:p>
        </p:txBody>
      </p:sp>
      <p:sp>
        <p:nvSpPr>
          <p:cNvPr id="6" name="Shape 4"/>
          <p:cNvSpPr/>
          <p:nvPr/>
        </p:nvSpPr>
        <p:spPr>
          <a:xfrm>
            <a:off x="5347320" y="2024062"/>
            <a:ext cx="381000" cy="1905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5766420" y="1957388"/>
            <a:ext cx="104775" cy="15240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6099795" y="1571625"/>
            <a:ext cx="4533900" cy="923925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19050">
            <a:solidFill>
              <a:srgbClr val="2A75B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42920" y="1724025"/>
            <a:ext cx="247650" cy="2476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11045" y="2028825"/>
            <a:ext cx="21025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de </a:t>
            </a:r>
            <a:r>
              <a:rPr lang="fr-FR" sz="2250" b="1" noProof="0" dirty="0" err="1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</a:t>
            </a:r>
            <a:endParaRPr lang="fr-FR" sz="2250" noProof="0" dirty="0"/>
          </a:p>
        </p:txBody>
      </p:sp>
      <p:sp>
        <p:nvSpPr>
          <p:cNvPr id="11" name="Shape 8"/>
          <p:cNvSpPr/>
          <p:nvPr/>
        </p:nvSpPr>
        <p:spPr>
          <a:xfrm>
            <a:off x="10862295" y="2024062"/>
            <a:ext cx="381000" cy="1905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Shape 9"/>
          <p:cNvSpPr/>
          <p:nvPr/>
        </p:nvSpPr>
        <p:spPr>
          <a:xfrm>
            <a:off x="11281395" y="1957388"/>
            <a:ext cx="104775" cy="15240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0"/>
          <p:cNvSpPr/>
          <p:nvPr/>
        </p:nvSpPr>
        <p:spPr>
          <a:xfrm>
            <a:off x="11614770" y="1557338"/>
            <a:ext cx="41338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1"/>
          <p:cNvSpPr/>
          <p:nvPr/>
        </p:nvSpPr>
        <p:spPr>
          <a:xfrm>
            <a:off x="13201576" y="1700213"/>
            <a:ext cx="10363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2A7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renvoyé</a:t>
            </a:r>
            <a:endParaRPr lang="fr-FR" sz="1800" noProof="0" dirty="0"/>
          </a:p>
        </p:txBody>
      </p:sp>
      <p:sp>
        <p:nvSpPr>
          <p:cNvPr id="15" name="Text 12"/>
          <p:cNvSpPr/>
          <p:nvPr/>
        </p:nvSpPr>
        <p:spPr>
          <a:xfrm>
            <a:off x="13089582" y="2052637"/>
            <a:ext cx="126035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</a:t>
            </a:r>
            <a:endParaRPr lang="fr-FR" sz="2250" noProof="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630650" y="1743075"/>
            <a:ext cx="247650" cy="2476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205820" y="2028825"/>
            <a:ext cx="11735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persisté</a:t>
            </a:r>
            <a:endParaRPr lang="fr-FR" sz="1800" noProof="0" dirty="0"/>
          </a:p>
        </p:txBody>
      </p:sp>
      <p:sp>
        <p:nvSpPr>
          <p:cNvPr id="18" name="Text 14"/>
          <p:cNvSpPr/>
          <p:nvPr/>
        </p:nvSpPr>
        <p:spPr>
          <a:xfrm>
            <a:off x="914400" y="2890838"/>
            <a:ext cx="572767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kern="0" spc="195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SAISI</a:t>
            </a:r>
            <a:endParaRPr lang="fr-FR" sz="1950" noProof="0" dirty="0"/>
          </a:p>
        </p:txBody>
      </p:sp>
      <p:sp>
        <p:nvSpPr>
          <p:cNvPr id="19" name="Text 15"/>
          <p:cNvSpPr/>
          <p:nvPr/>
        </p:nvSpPr>
        <p:spPr>
          <a:xfrm>
            <a:off x="914400" y="3419475"/>
            <a:ext cx="572767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315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variables</a:t>
            </a:r>
            <a:endParaRPr lang="fr-FR" sz="3150" noProof="0" dirty="0"/>
          </a:p>
        </p:txBody>
      </p:sp>
      <p:sp>
        <p:nvSpPr>
          <p:cNvPr id="20" name="Shape 16"/>
          <p:cNvSpPr/>
          <p:nvPr/>
        </p:nvSpPr>
        <p:spPr>
          <a:xfrm>
            <a:off x="914400" y="4067175"/>
            <a:ext cx="5206975" cy="1268611"/>
          </a:xfrm>
          <a:prstGeom prst="roundRect">
            <a:avLst>
              <a:gd name="adj" fmla="val 7508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7"/>
          <p:cNvSpPr/>
          <p:nvPr/>
        </p:nvSpPr>
        <p:spPr>
          <a:xfrm>
            <a:off x="1171575" y="4324350"/>
            <a:ext cx="4848834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783"/>
              </a:lnSpc>
              <a:buNone/>
            </a:pPr>
            <a:r>
              <a:rPr lang="fr-FR" sz="2250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champ inconnu fait échouer la demande</a:t>
            </a:r>
            <a:endParaRPr lang="fr-FR" sz="2250" noProof="0" dirty="0"/>
          </a:p>
        </p:txBody>
      </p:sp>
      <p:sp>
        <p:nvSpPr>
          <p:cNvPr id="22" name="Shape 18"/>
          <p:cNvSpPr/>
          <p:nvPr/>
        </p:nvSpPr>
        <p:spPr>
          <a:xfrm>
            <a:off x="914400" y="5545336"/>
            <a:ext cx="5206975" cy="1268611"/>
          </a:xfrm>
          <a:prstGeom prst="roundRect">
            <a:avLst>
              <a:gd name="adj" fmla="val 7508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19"/>
          <p:cNvSpPr/>
          <p:nvPr/>
        </p:nvSpPr>
        <p:spPr>
          <a:xfrm>
            <a:off x="1171575" y="5802511"/>
            <a:ext cx="4848834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783"/>
              </a:lnSpc>
              <a:buNone/>
            </a:pPr>
            <a:r>
              <a:rPr lang="fr-FR" sz="2250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valeur doit rester dans ses bornes</a:t>
            </a:r>
            <a:endParaRPr lang="fr-FR" sz="2250" noProof="0" dirty="0"/>
          </a:p>
        </p:txBody>
      </p:sp>
      <p:sp>
        <p:nvSpPr>
          <p:cNvPr id="24" name="Shape 20"/>
          <p:cNvSpPr/>
          <p:nvPr/>
        </p:nvSpPr>
        <p:spPr>
          <a:xfrm>
            <a:off x="914400" y="7023497"/>
            <a:ext cx="5206975" cy="1268611"/>
          </a:xfrm>
          <a:prstGeom prst="roundRect">
            <a:avLst>
              <a:gd name="adj" fmla="val 7508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Text 21"/>
          <p:cNvSpPr/>
          <p:nvPr/>
        </p:nvSpPr>
        <p:spPr>
          <a:xfrm>
            <a:off x="1171575" y="7280672"/>
            <a:ext cx="4848834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783"/>
              </a:lnSpc>
              <a:buNone/>
            </a:pPr>
            <a:r>
              <a:rPr lang="fr-FR" sz="2250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donnée douteuse n'atteint le modèle</a:t>
            </a:r>
            <a:endParaRPr lang="fr-FR" sz="2250" noProof="0" dirty="0"/>
          </a:p>
        </p:txBody>
      </p:sp>
      <p:sp>
        <p:nvSpPr>
          <p:cNvPr id="26" name="Text 22"/>
          <p:cNvSpPr/>
          <p:nvPr/>
        </p:nvSpPr>
        <p:spPr>
          <a:xfrm>
            <a:off x="6540475" y="2890838"/>
            <a:ext cx="572767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kern="0" spc="195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RENVOYÉ</a:t>
            </a:r>
            <a:endParaRPr lang="fr-FR" sz="1950" noProof="0" dirty="0"/>
          </a:p>
        </p:txBody>
      </p:sp>
      <p:sp>
        <p:nvSpPr>
          <p:cNvPr id="27" name="Text 23"/>
          <p:cNvSpPr/>
          <p:nvPr/>
        </p:nvSpPr>
        <p:spPr>
          <a:xfrm>
            <a:off x="6540475" y="3419475"/>
            <a:ext cx="572767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315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décision</a:t>
            </a:r>
            <a:endParaRPr lang="fr-FR" sz="3150" noProof="0" dirty="0"/>
          </a:p>
        </p:txBody>
      </p:sp>
      <p:sp>
        <p:nvSpPr>
          <p:cNvPr id="28" name="Shape 24"/>
          <p:cNvSpPr/>
          <p:nvPr/>
        </p:nvSpPr>
        <p:spPr>
          <a:xfrm>
            <a:off x="6540475" y="4067175"/>
            <a:ext cx="5206975" cy="891480"/>
          </a:xfrm>
          <a:prstGeom prst="roundRect">
            <a:avLst>
              <a:gd name="adj" fmla="val 10684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5"/>
          <p:cNvSpPr/>
          <p:nvPr/>
        </p:nvSpPr>
        <p:spPr>
          <a:xfrm>
            <a:off x="6797650" y="4324350"/>
            <a:ext cx="4848834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783"/>
              </a:lnSpc>
              <a:buNone/>
            </a:pPr>
            <a:r>
              <a:rPr lang="fr-FR" sz="2250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Identifiant unique de la prédiction</a:t>
            </a:r>
            <a:endParaRPr lang="fr-FR" sz="2250" noProof="0" dirty="0"/>
          </a:p>
        </p:txBody>
      </p:sp>
      <p:sp>
        <p:nvSpPr>
          <p:cNvPr id="30" name="Shape 26"/>
          <p:cNvSpPr/>
          <p:nvPr/>
        </p:nvSpPr>
        <p:spPr>
          <a:xfrm>
            <a:off x="6540475" y="5168205"/>
            <a:ext cx="5206975" cy="891480"/>
          </a:xfrm>
          <a:prstGeom prst="roundRect">
            <a:avLst>
              <a:gd name="adj" fmla="val 10684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27"/>
          <p:cNvSpPr/>
          <p:nvPr/>
        </p:nvSpPr>
        <p:spPr>
          <a:xfrm>
            <a:off x="6797650" y="5425380"/>
            <a:ext cx="4848834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783"/>
              </a:lnSpc>
              <a:buNone/>
            </a:pPr>
            <a:r>
              <a:rPr lang="fr-FR" sz="2250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de risque et décision associée</a:t>
            </a:r>
            <a:endParaRPr lang="fr-FR" sz="2250" noProof="0" dirty="0"/>
          </a:p>
        </p:txBody>
      </p:sp>
      <p:sp>
        <p:nvSpPr>
          <p:cNvPr id="32" name="Shape 28"/>
          <p:cNvSpPr/>
          <p:nvPr/>
        </p:nvSpPr>
        <p:spPr>
          <a:xfrm>
            <a:off x="6540475" y="6269236"/>
            <a:ext cx="5206975" cy="891480"/>
          </a:xfrm>
          <a:prstGeom prst="roundRect">
            <a:avLst>
              <a:gd name="adj" fmla="val 10684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29"/>
          <p:cNvSpPr/>
          <p:nvPr/>
        </p:nvSpPr>
        <p:spPr>
          <a:xfrm>
            <a:off x="6797650" y="6526411"/>
            <a:ext cx="4848834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783"/>
              </a:lnSpc>
              <a:buNone/>
            </a:pPr>
            <a:r>
              <a:rPr lang="fr-FR" sz="2250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du modèle qui a répondu</a:t>
            </a:r>
            <a:endParaRPr lang="fr-FR" sz="2250" noProof="0" dirty="0"/>
          </a:p>
        </p:txBody>
      </p:sp>
      <p:sp>
        <p:nvSpPr>
          <p:cNvPr id="34" name="Text 30"/>
          <p:cNvSpPr/>
          <p:nvPr/>
        </p:nvSpPr>
        <p:spPr>
          <a:xfrm>
            <a:off x="12166550" y="2890838"/>
            <a:ext cx="572775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kern="0" spc="195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PERSISTÉ</a:t>
            </a:r>
            <a:endParaRPr lang="fr-FR" sz="1950" noProof="0" dirty="0"/>
          </a:p>
        </p:txBody>
      </p:sp>
      <p:sp>
        <p:nvSpPr>
          <p:cNvPr id="35" name="Text 31"/>
          <p:cNvSpPr/>
          <p:nvPr/>
        </p:nvSpPr>
        <p:spPr>
          <a:xfrm>
            <a:off x="12166550" y="3419475"/>
            <a:ext cx="572775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315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trace</a:t>
            </a:r>
            <a:endParaRPr lang="fr-FR" sz="3150" noProof="0" dirty="0"/>
          </a:p>
        </p:txBody>
      </p:sp>
      <p:sp>
        <p:nvSpPr>
          <p:cNvPr id="36" name="Shape 32"/>
          <p:cNvSpPr/>
          <p:nvPr/>
        </p:nvSpPr>
        <p:spPr>
          <a:xfrm>
            <a:off x="12166550" y="4067175"/>
            <a:ext cx="5207050" cy="1268611"/>
          </a:xfrm>
          <a:prstGeom prst="roundRect">
            <a:avLst>
              <a:gd name="adj" fmla="val 7508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Text 33"/>
          <p:cNvSpPr/>
          <p:nvPr/>
        </p:nvSpPr>
        <p:spPr>
          <a:xfrm>
            <a:off x="12423725" y="4324350"/>
            <a:ext cx="4848911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783"/>
              </a:lnSpc>
              <a:buNone/>
            </a:pPr>
            <a:r>
              <a:rPr lang="fr-FR" sz="2250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réponse complète, plus l'horodatage et le statut</a:t>
            </a:r>
            <a:endParaRPr lang="fr-FR" sz="2250" noProof="0" dirty="0"/>
          </a:p>
        </p:txBody>
      </p:sp>
      <p:sp>
        <p:nvSpPr>
          <p:cNvPr id="38" name="Shape 34"/>
          <p:cNvSpPr/>
          <p:nvPr/>
        </p:nvSpPr>
        <p:spPr>
          <a:xfrm>
            <a:off x="12166550" y="5545336"/>
            <a:ext cx="5207050" cy="891480"/>
          </a:xfrm>
          <a:prstGeom prst="roundRect">
            <a:avLst>
              <a:gd name="adj" fmla="val 10684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9" name="Text 35"/>
          <p:cNvSpPr/>
          <p:nvPr/>
        </p:nvSpPr>
        <p:spPr>
          <a:xfrm>
            <a:off x="12423725" y="5802511"/>
            <a:ext cx="4848911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783"/>
              </a:lnSpc>
              <a:buNone/>
            </a:pPr>
            <a:r>
              <a:rPr lang="fr-FR" sz="2250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latence d'inférence mesurée</a:t>
            </a:r>
            <a:endParaRPr lang="fr-FR" sz="2250" noProof="0" dirty="0"/>
          </a:p>
        </p:txBody>
      </p:sp>
      <p:sp>
        <p:nvSpPr>
          <p:cNvPr id="40" name="Shape 36"/>
          <p:cNvSpPr/>
          <p:nvPr/>
        </p:nvSpPr>
        <p:spPr>
          <a:xfrm>
            <a:off x="12166550" y="6646366"/>
            <a:ext cx="5207050" cy="1268611"/>
          </a:xfrm>
          <a:prstGeom prst="roundRect">
            <a:avLst>
              <a:gd name="adj" fmla="val 7508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Text 37"/>
          <p:cNvSpPr/>
          <p:nvPr/>
        </p:nvSpPr>
        <p:spPr>
          <a:xfrm>
            <a:off x="12423725" y="6903541"/>
            <a:ext cx="4848911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783"/>
              </a:lnSpc>
              <a:buNone/>
            </a:pPr>
            <a:r>
              <a:rPr lang="fr-FR" sz="2250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50 variables reçues, telles quelles</a:t>
            </a:r>
            <a:endParaRPr lang="fr-FR" sz="2250" noProof="0" dirty="0"/>
          </a:p>
        </p:txBody>
      </p:sp>
      <p:sp>
        <p:nvSpPr>
          <p:cNvPr id="42" name="Shape 38"/>
          <p:cNvSpPr/>
          <p:nvPr/>
        </p:nvSpPr>
        <p:spPr>
          <a:xfrm>
            <a:off x="914400" y="9067800"/>
            <a:ext cx="16459200" cy="762000"/>
          </a:xfrm>
          <a:prstGeom prst="roundRect">
            <a:avLst>
              <a:gd name="adj" fmla="val 15000"/>
            </a:avLst>
          </a:prstGeom>
          <a:solidFill>
            <a:srgbClr val="1D222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3" name="Text 39"/>
          <p:cNvSpPr/>
          <p:nvPr/>
        </p:nvSpPr>
        <p:spPr>
          <a:xfrm>
            <a:off x="1200150" y="9301163"/>
            <a:ext cx="762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9F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règle</a:t>
            </a:r>
            <a:endParaRPr lang="fr-FR" sz="1800" noProof="0" dirty="0"/>
          </a:p>
        </p:txBody>
      </p:sp>
      <p:sp>
        <p:nvSpPr>
          <p:cNvPr id="44" name="Text 40"/>
          <p:cNvSpPr/>
          <p:nvPr/>
        </p:nvSpPr>
        <p:spPr>
          <a:xfrm>
            <a:off x="2095500" y="9277350"/>
            <a:ext cx="1008402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100" noProof="0" dirty="0">
                <a:solidFill>
                  <a:srgbClr val="D7D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Rien n'est renvoyé qui n'ait été validé, et rien n'est renvoyé qui n'ait été tracé.</a:t>
            </a:r>
            <a:endParaRPr lang="fr-FR" sz="21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810512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kern="0" spc="273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CONTENEURISATION</a:t>
            </a:r>
            <a:endParaRPr lang="fr-FR" sz="1950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871538"/>
            <a:ext cx="18105120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3900" b="1" kern="0" spc="-78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stack locale, en une commande</a:t>
            </a:r>
            <a:endParaRPr lang="fr-FR" sz="3900" noProof="0" dirty="0"/>
          </a:p>
        </p:txBody>
      </p:sp>
      <p:sp>
        <p:nvSpPr>
          <p:cNvPr id="4" name="Shape 2"/>
          <p:cNvSpPr/>
          <p:nvPr/>
        </p:nvSpPr>
        <p:spPr>
          <a:xfrm>
            <a:off x="4381500" y="1562100"/>
            <a:ext cx="9525000" cy="1119634"/>
          </a:xfrm>
          <a:prstGeom prst="roundRect">
            <a:avLst>
              <a:gd name="adj" fmla="val 10209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9" b="-9"/>
          <a:stretch/>
        </p:blipFill>
        <p:spPr>
          <a:xfrm>
            <a:off x="4638675" y="1979042"/>
            <a:ext cx="362099" cy="285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29374" y="1685925"/>
            <a:ext cx="926194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et orchestration</a:t>
            </a:r>
            <a:endParaRPr lang="fr-FR" sz="2250" noProof="0" dirty="0"/>
          </a:p>
        </p:txBody>
      </p:sp>
      <p:sp>
        <p:nvSpPr>
          <p:cNvPr id="7" name="Text 4"/>
          <p:cNvSpPr/>
          <p:nvPr/>
        </p:nvSpPr>
        <p:spPr>
          <a:xfrm>
            <a:off x="5229374" y="2000250"/>
            <a:ext cx="8672550" cy="59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6473"/>
              </a:lnSpc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Dépendances verrouillées, exécution sans privilèges, six services démarrés ensemble</a:t>
            </a:r>
            <a:endParaRPr lang="fr-FR" sz="1800" noProof="0" dirty="0"/>
          </a:p>
        </p:txBody>
      </p:sp>
      <p:sp>
        <p:nvSpPr>
          <p:cNvPr id="8" name="Shape 5"/>
          <p:cNvSpPr/>
          <p:nvPr/>
        </p:nvSpPr>
        <p:spPr>
          <a:xfrm>
            <a:off x="9134475" y="2929310"/>
            <a:ext cx="19050" cy="19050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9067800" y="3119810"/>
            <a:ext cx="152400" cy="104775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/>
          <p:cNvSpPr/>
          <p:nvPr/>
        </p:nvSpPr>
        <p:spPr>
          <a:xfrm>
            <a:off x="914400" y="3472086"/>
            <a:ext cx="16459200" cy="5562451"/>
          </a:xfrm>
          <a:prstGeom prst="roundRect">
            <a:avLst>
              <a:gd name="adj" fmla="val 2740"/>
            </a:avLst>
          </a:prstGeom>
          <a:solidFill>
            <a:srgbClr val="FFFFFF">
              <a:alpha val="55000"/>
            </a:srgbClr>
          </a:solidFill>
          <a:ln w="19050">
            <a:solidFill>
              <a:srgbClr val="B7B4AD"/>
            </a:solidFill>
            <a:prstDash val="dash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8"/>
          <p:cNvSpPr/>
          <p:nvPr/>
        </p:nvSpPr>
        <p:spPr>
          <a:xfrm>
            <a:off x="1085850" y="3643536"/>
            <a:ext cx="544478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75" kern="0" spc="188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endParaRPr lang="fr-FR" sz="1875" noProof="0" dirty="0"/>
          </a:p>
        </p:txBody>
      </p:sp>
      <p:sp>
        <p:nvSpPr>
          <p:cNvPr id="12" name="Shape 9"/>
          <p:cNvSpPr/>
          <p:nvPr/>
        </p:nvSpPr>
        <p:spPr>
          <a:xfrm>
            <a:off x="1085850" y="4048348"/>
            <a:ext cx="4949800" cy="2183532"/>
          </a:xfrm>
          <a:prstGeom prst="roundRect">
            <a:avLst>
              <a:gd name="adj" fmla="val 5235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36888" y="4676701"/>
            <a:ext cx="247650" cy="2476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9182" y="4981501"/>
            <a:ext cx="51926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10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fr-FR" sz="2100" noProof="0" dirty="0"/>
          </a:p>
        </p:txBody>
      </p:sp>
      <p:sp>
        <p:nvSpPr>
          <p:cNvPr id="15" name="Text 11"/>
          <p:cNvSpPr/>
          <p:nvPr/>
        </p:nvSpPr>
        <p:spPr>
          <a:xfrm>
            <a:off x="1083599" y="5329163"/>
            <a:ext cx="4954302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4727"/>
              </a:lnSpc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Sert les scores, expose mesures et journaux</a:t>
            </a:r>
            <a:endParaRPr lang="fr-FR" sz="1800" noProof="0" dirty="0"/>
          </a:p>
        </p:txBody>
      </p:sp>
      <p:sp>
        <p:nvSpPr>
          <p:cNvPr id="16" name="Shape 12"/>
          <p:cNvSpPr/>
          <p:nvPr/>
        </p:nvSpPr>
        <p:spPr>
          <a:xfrm>
            <a:off x="3551188" y="6327130"/>
            <a:ext cx="19050" cy="15240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3"/>
          <p:cNvSpPr/>
          <p:nvPr/>
        </p:nvSpPr>
        <p:spPr>
          <a:xfrm>
            <a:off x="3484513" y="6479530"/>
            <a:ext cx="152400" cy="104775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Shape 14"/>
          <p:cNvSpPr/>
          <p:nvPr/>
        </p:nvSpPr>
        <p:spPr>
          <a:xfrm>
            <a:off x="1085850" y="6679555"/>
            <a:ext cx="4949800" cy="2183532"/>
          </a:xfrm>
          <a:prstGeom prst="roundRect">
            <a:avLst>
              <a:gd name="adj" fmla="val 5235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9" r="-9"/>
          <a:stretch/>
        </p:blipFill>
        <p:spPr>
          <a:xfrm>
            <a:off x="3431381" y="7298382"/>
            <a:ext cx="258663" cy="2667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809131" y="7622232"/>
            <a:ext cx="165348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10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fr-FR" sz="2100" noProof="0" dirty="0"/>
          </a:p>
        </p:txBody>
      </p:sp>
      <p:sp>
        <p:nvSpPr>
          <p:cNvPr id="21" name="Text 16"/>
          <p:cNvSpPr/>
          <p:nvPr/>
        </p:nvSpPr>
        <p:spPr>
          <a:xfrm>
            <a:off x="1588978" y="7969895"/>
            <a:ext cx="3943469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4727"/>
              </a:lnSpc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locale : stocke les prédictions</a:t>
            </a:r>
            <a:endParaRPr lang="fr-FR" sz="1800" noProof="0" dirty="0"/>
          </a:p>
        </p:txBody>
      </p:sp>
      <p:sp>
        <p:nvSpPr>
          <p:cNvPr id="22" name="Shape 17"/>
          <p:cNvSpPr/>
          <p:nvPr/>
        </p:nvSpPr>
        <p:spPr>
          <a:xfrm>
            <a:off x="6264250" y="6243786"/>
            <a:ext cx="323850" cy="1905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18"/>
          <p:cNvSpPr/>
          <p:nvPr/>
        </p:nvSpPr>
        <p:spPr>
          <a:xfrm>
            <a:off x="6626200" y="6177111"/>
            <a:ext cx="104775" cy="15240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Shape 19"/>
          <p:cNvSpPr/>
          <p:nvPr/>
        </p:nvSpPr>
        <p:spPr>
          <a:xfrm>
            <a:off x="6959575" y="3643536"/>
            <a:ext cx="10242575" cy="5219551"/>
          </a:xfrm>
          <a:prstGeom prst="roundRect">
            <a:avLst>
              <a:gd name="adj" fmla="val 2555"/>
            </a:avLst>
          </a:prstGeom>
          <a:solidFill>
            <a:srgbClr val="FFFFFF">
              <a:alpha val="70000"/>
            </a:srgbClr>
          </a:solidFill>
          <a:ln w="19050">
            <a:solidFill>
              <a:srgbClr val="C3BFB7"/>
            </a:solidFill>
            <a:prstDash val="dash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Text 20"/>
          <p:cNvSpPr/>
          <p:nvPr/>
        </p:nvSpPr>
        <p:spPr>
          <a:xfrm>
            <a:off x="7131025" y="3776886"/>
            <a:ext cx="238363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75" kern="0" spc="188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OBSERVABILITÉ</a:t>
            </a:r>
            <a:endParaRPr lang="fr-FR" sz="1875" noProof="0" dirty="0"/>
          </a:p>
        </p:txBody>
      </p:sp>
      <p:sp>
        <p:nvSpPr>
          <p:cNvPr id="26" name="Shape 21"/>
          <p:cNvSpPr/>
          <p:nvPr/>
        </p:nvSpPr>
        <p:spPr>
          <a:xfrm>
            <a:off x="9709100" y="4162648"/>
            <a:ext cx="4743450" cy="1353443"/>
          </a:xfrm>
          <a:prstGeom prst="roundRect">
            <a:avLst>
              <a:gd name="adj" fmla="val 8445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t="-7" b="-7"/>
          <a:stretch/>
        </p:blipFill>
        <p:spPr>
          <a:xfrm>
            <a:off x="11967865" y="4267423"/>
            <a:ext cx="225847" cy="2286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768733" y="4534123"/>
            <a:ext cx="70031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10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Alloy</a:t>
            </a:r>
            <a:endParaRPr lang="fr-FR" sz="2100" noProof="0" dirty="0"/>
          </a:p>
        </p:txBody>
      </p:sp>
      <p:sp>
        <p:nvSpPr>
          <p:cNvPr id="29" name="Text 23"/>
          <p:cNvSpPr/>
          <p:nvPr/>
        </p:nvSpPr>
        <p:spPr>
          <a:xfrm>
            <a:off x="9824353" y="4862736"/>
            <a:ext cx="4512945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4727"/>
              </a:lnSpc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Collecteur : récupère mesures et journaux, puis les expédie</a:t>
            </a:r>
            <a:endParaRPr lang="fr-FR" sz="1800" noProof="0" dirty="0"/>
          </a:p>
        </p:txBody>
      </p:sp>
      <p:sp>
        <p:nvSpPr>
          <p:cNvPr id="30" name="Shape 24"/>
          <p:cNvSpPr/>
          <p:nvPr/>
        </p:nvSpPr>
        <p:spPr>
          <a:xfrm>
            <a:off x="10566350" y="5592291"/>
            <a:ext cx="19050" cy="13335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Shape 25"/>
          <p:cNvSpPr/>
          <p:nvPr/>
        </p:nvSpPr>
        <p:spPr>
          <a:xfrm>
            <a:off x="10499675" y="5725641"/>
            <a:ext cx="152400" cy="104775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Shape 26"/>
          <p:cNvSpPr/>
          <p:nvPr/>
        </p:nvSpPr>
        <p:spPr>
          <a:xfrm>
            <a:off x="13576250" y="5592291"/>
            <a:ext cx="19050" cy="13335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27"/>
          <p:cNvSpPr/>
          <p:nvPr/>
        </p:nvSpPr>
        <p:spPr>
          <a:xfrm>
            <a:off x="13509575" y="5725641"/>
            <a:ext cx="152400" cy="104775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Shape 28"/>
          <p:cNvSpPr/>
          <p:nvPr/>
        </p:nvSpPr>
        <p:spPr>
          <a:xfrm>
            <a:off x="8404175" y="5906616"/>
            <a:ext cx="3562350" cy="1353443"/>
          </a:xfrm>
          <a:prstGeom prst="roundRect">
            <a:avLst>
              <a:gd name="adj" fmla="val 8445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rcRect t="-16" b="-16"/>
          <a:stretch/>
        </p:blipFill>
        <p:spPr>
          <a:xfrm>
            <a:off x="10069785" y="6011391"/>
            <a:ext cx="231056" cy="2286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435257" y="6278091"/>
            <a:ext cx="16502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10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fr-FR" sz="2100" noProof="0" dirty="0"/>
          </a:p>
        </p:txBody>
      </p:sp>
      <p:sp>
        <p:nvSpPr>
          <p:cNvPr id="37" name="Text 30"/>
          <p:cNvSpPr/>
          <p:nvPr/>
        </p:nvSpPr>
        <p:spPr>
          <a:xfrm>
            <a:off x="8946877" y="6606704"/>
            <a:ext cx="247694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4727"/>
              </a:lnSpc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Conserve les mesures</a:t>
            </a:r>
            <a:endParaRPr lang="fr-FR" sz="1800" noProof="0" dirty="0"/>
          </a:p>
        </p:txBody>
      </p:sp>
      <p:sp>
        <p:nvSpPr>
          <p:cNvPr id="38" name="Shape 31"/>
          <p:cNvSpPr/>
          <p:nvPr/>
        </p:nvSpPr>
        <p:spPr>
          <a:xfrm>
            <a:off x="12195125" y="5906616"/>
            <a:ext cx="3562350" cy="1353443"/>
          </a:xfrm>
          <a:prstGeom prst="roundRect">
            <a:avLst>
              <a:gd name="adj" fmla="val 8445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3862000" y="6011391"/>
            <a:ext cx="228600" cy="22860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3714512" y="6278091"/>
            <a:ext cx="59977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10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Loki</a:t>
            </a:r>
            <a:endParaRPr lang="fr-FR" sz="2100" noProof="0" dirty="0"/>
          </a:p>
        </p:txBody>
      </p:sp>
      <p:sp>
        <p:nvSpPr>
          <p:cNvPr id="41" name="Text 33"/>
          <p:cNvSpPr/>
          <p:nvPr/>
        </p:nvSpPr>
        <p:spPr>
          <a:xfrm>
            <a:off x="12308473" y="6606704"/>
            <a:ext cx="3335655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4727"/>
              </a:lnSpc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Conserve et indexe les journaux</a:t>
            </a:r>
            <a:endParaRPr lang="fr-FR" sz="1800" noProof="0" dirty="0"/>
          </a:p>
        </p:txBody>
      </p:sp>
      <p:sp>
        <p:nvSpPr>
          <p:cNvPr id="42" name="Shape 34"/>
          <p:cNvSpPr/>
          <p:nvPr/>
        </p:nvSpPr>
        <p:spPr>
          <a:xfrm>
            <a:off x="10375850" y="7336259"/>
            <a:ext cx="19050" cy="13335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3" name="Shape 35"/>
          <p:cNvSpPr/>
          <p:nvPr/>
        </p:nvSpPr>
        <p:spPr>
          <a:xfrm>
            <a:off x="10309175" y="7469609"/>
            <a:ext cx="152400" cy="104775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4" name="Shape 36"/>
          <p:cNvSpPr/>
          <p:nvPr/>
        </p:nvSpPr>
        <p:spPr>
          <a:xfrm>
            <a:off x="13766750" y="7336259"/>
            <a:ext cx="19050" cy="13335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5" name="Shape 37"/>
          <p:cNvSpPr/>
          <p:nvPr/>
        </p:nvSpPr>
        <p:spPr>
          <a:xfrm>
            <a:off x="13700075" y="7469609"/>
            <a:ext cx="152400" cy="104775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6" name="Shape 38"/>
          <p:cNvSpPr/>
          <p:nvPr/>
        </p:nvSpPr>
        <p:spPr>
          <a:xfrm>
            <a:off x="9709100" y="7650584"/>
            <a:ext cx="4743450" cy="1079153"/>
          </a:xfrm>
          <a:prstGeom prst="roundRect">
            <a:avLst>
              <a:gd name="adj" fmla="val 10592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rcRect t="-10" b="-10"/>
          <a:stretch/>
        </p:blipFill>
        <p:spPr>
          <a:xfrm>
            <a:off x="11977985" y="7755359"/>
            <a:ext cx="205606" cy="22860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11587386" y="8022059"/>
            <a:ext cx="106300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100" b="1" noProof="0" dirty="0" err="1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fr-FR" sz="2100" noProof="0" dirty="0"/>
          </a:p>
        </p:txBody>
      </p:sp>
      <p:sp>
        <p:nvSpPr>
          <p:cNvPr id="49" name="Text 40"/>
          <p:cNvSpPr/>
          <p:nvPr/>
        </p:nvSpPr>
        <p:spPr>
          <a:xfrm>
            <a:off x="10508054" y="8350672"/>
            <a:ext cx="3145542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4727"/>
              </a:lnSpc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Affiche les tableaux de bord</a:t>
            </a:r>
            <a:endParaRPr lang="fr-FR" sz="1800" noProof="0" dirty="0"/>
          </a:p>
        </p:txBody>
      </p:sp>
      <p:sp>
        <p:nvSpPr>
          <p:cNvPr id="50" name="Shape 41"/>
          <p:cNvSpPr/>
          <p:nvPr/>
        </p:nvSpPr>
        <p:spPr>
          <a:xfrm>
            <a:off x="914400" y="9282113"/>
            <a:ext cx="16459200" cy="585788"/>
          </a:xfrm>
          <a:prstGeom prst="roundRect">
            <a:avLst>
              <a:gd name="adj" fmla="val 19512"/>
            </a:avLst>
          </a:prstGeom>
          <a:solidFill>
            <a:srgbClr val="1D222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1" name="Text 42"/>
          <p:cNvSpPr/>
          <p:nvPr/>
        </p:nvSpPr>
        <p:spPr>
          <a:xfrm>
            <a:off x="1181100" y="9427369"/>
            <a:ext cx="21122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9F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déploiement</a:t>
            </a:r>
            <a:endParaRPr lang="fr-FR" sz="1800" noProof="0" dirty="0"/>
          </a:p>
        </p:txBody>
      </p:sp>
      <p:sp>
        <p:nvSpPr>
          <p:cNvPr id="52" name="Text 43"/>
          <p:cNvSpPr/>
          <p:nvPr/>
        </p:nvSpPr>
        <p:spPr>
          <a:xfrm>
            <a:off x="3291855" y="9415463"/>
            <a:ext cx="1500549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D7D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et les tableaux de bord sortent du compose : </a:t>
            </a:r>
            <a:r>
              <a:rPr lang="fr-FR" sz="1950" noProof="0" dirty="0" err="1">
                <a:solidFill>
                  <a:srgbClr val="D7D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r>
              <a:rPr lang="fr-FR" sz="1950" noProof="0" dirty="0">
                <a:solidFill>
                  <a:srgbClr val="D7D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et </a:t>
            </a:r>
            <a:r>
              <a:rPr lang="fr-FR" sz="1950" noProof="0" dirty="0" err="1">
                <a:solidFill>
                  <a:srgbClr val="D7D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r>
              <a:rPr lang="fr-FR" sz="1950" noProof="0" dirty="0">
                <a:solidFill>
                  <a:srgbClr val="D7D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Cloud prennent en charge ses services externes.</a:t>
            </a:r>
            <a:endParaRPr lang="fr-FR" sz="195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2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810512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kern="0" spc="273" noProof="0" dirty="0">
                <a:solidFill>
                  <a:srgbClr val="8F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QUALITÉ</a:t>
            </a:r>
            <a:endParaRPr lang="fr-FR" sz="1950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1271588"/>
            <a:ext cx="18105120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4650" b="1" kern="0" spc="-93" noProof="0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niveaux de tests</a:t>
            </a:r>
            <a:endParaRPr lang="fr-FR" sz="465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4140622"/>
            <a:ext cx="2183085" cy="116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158"/>
              </a:lnSpc>
              <a:buNone/>
            </a:pPr>
            <a:r>
              <a:rPr lang="fr-FR" sz="9900" b="1" kern="0" spc="-297" noProof="0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fr-FR" sz="9900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5348362"/>
            <a:ext cx="218308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400" noProof="0" dirty="0">
                <a:solidFill>
                  <a:srgbClr val="B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passés</a:t>
            </a:r>
            <a:endParaRPr lang="fr-FR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4042023" y="4140622"/>
            <a:ext cx="4784534" cy="116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158"/>
              </a:lnSpc>
              <a:buNone/>
            </a:pPr>
            <a:r>
              <a:rPr lang="fr-FR" sz="9900" b="1" kern="0" spc="-297" noProof="0" dirty="0">
                <a:solidFill>
                  <a:srgbClr val="9FD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99,63 %</a:t>
            </a:r>
            <a:endParaRPr lang="fr-FR" sz="9900" noProof="0" dirty="0"/>
          </a:p>
        </p:txBody>
      </p:sp>
      <p:sp>
        <p:nvSpPr>
          <p:cNvPr id="7" name="Text 5"/>
          <p:cNvSpPr/>
          <p:nvPr/>
        </p:nvSpPr>
        <p:spPr>
          <a:xfrm>
            <a:off x="4042023" y="5348362"/>
            <a:ext cx="478453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400" noProof="0" dirty="0">
                <a:solidFill>
                  <a:srgbClr val="B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couverture</a:t>
            </a:r>
            <a:endParaRPr lang="fr-FR" sz="2400" noProof="0" dirty="0"/>
          </a:p>
        </p:txBody>
      </p:sp>
      <p:sp>
        <p:nvSpPr>
          <p:cNvPr id="8" name="Text 6"/>
          <p:cNvSpPr/>
          <p:nvPr/>
        </p:nvSpPr>
        <p:spPr>
          <a:xfrm>
            <a:off x="9534599" y="4140622"/>
            <a:ext cx="4302323" cy="116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158"/>
              </a:lnSpc>
              <a:buNone/>
            </a:pPr>
            <a:r>
              <a:rPr lang="fr-FR" sz="9900" b="1" kern="0" spc="-297" noProof="0" dirty="0">
                <a:solidFill>
                  <a:srgbClr val="8F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80 %</a:t>
            </a:r>
            <a:endParaRPr lang="fr-FR" sz="9900" noProof="0" dirty="0"/>
          </a:p>
        </p:txBody>
      </p:sp>
      <p:sp>
        <p:nvSpPr>
          <p:cNvPr id="9" name="Text 7"/>
          <p:cNvSpPr/>
          <p:nvPr/>
        </p:nvSpPr>
        <p:spPr>
          <a:xfrm>
            <a:off x="9534599" y="5348362"/>
            <a:ext cx="430232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400" noProof="0" dirty="0">
                <a:solidFill>
                  <a:srgbClr val="B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seuil bloquant en intégration</a:t>
            </a:r>
            <a:endParaRPr lang="fr-FR" sz="2400" noProof="0" dirty="0"/>
          </a:p>
        </p:txBody>
      </p:sp>
      <p:sp>
        <p:nvSpPr>
          <p:cNvPr id="10" name="Shape 8"/>
          <p:cNvSpPr/>
          <p:nvPr/>
        </p:nvSpPr>
        <p:spPr>
          <a:xfrm>
            <a:off x="914400" y="7974509"/>
            <a:ext cx="5283175" cy="9525"/>
          </a:xfrm>
          <a:prstGeom prst="rect">
            <a:avLst/>
          </a:prstGeom>
          <a:solidFill>
            <a:srgbClr val="3A444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914400" y="8174534"/>
            <a:ext cx="581149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400" b="1" noProof="0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Unitaires</a:t>
            </a:r>
            <a:endParaRPr lang="fr-FR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914400" y="8598396"/>
            <a:ext cx="5441670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fr-FR" sz="1950" noProof="0" dirty="0">
                <a:solidFill>
                  <a:srgbClr val="B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règle de validation et de décision, isolée : les dépendances externes sont remplacées par des doublures</a:t>
            </a:r>
            <a:endParaRPr lang="fr-FR" sz="1950" noProof="0" dirty="0"/>
          </a:p>
        </p:txBody>
      </p:sp>
      <p:sp>
        <p:nvSpPr>
          <p:cNvPr id="13" name="Shape 11"/>
          <p:cNvSpPr/>
          <p:nvPr/>
        </p:nvSpPr>
        <p:spPr>
          <a:xfrm>
            <a:off x="6502375" y="7974509"/>
            <a:ext cx="5283175" cy="9525"/>
          </a:xfrm>
          <a:prstGeom prst="rect">
            <a:avLst/>
          </a:prstGeom>
          <a:solidFill>
            <a:srgbClr val="3A444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6502375" y="8174534"/>
            <a:ext cx="581149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400" b="1" noProof="0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</a:t>
            </a:r>
            <a:endParaRPr lang="fr-FR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6502375" y="8598396"/>
            <a:ext cx="5441670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fr-FR" sz="1950" noProof="0" dirty="0">
                <a:solidFill>
                  <a:srgbClr val="B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vraie base PostgreSQL créée puis détruite pour chaque exécution : on vérifie l'écriture réelle, pas une simulation</a:t>
            </a:r>
            <a:endParaRPr lang="fr-FR" sz="1950" noProof="0" dirty="0"/>
          </a:p>
        </p:txBody>
      </p:sp>
      <p:sp>
        <p:nvSpPr>
          <p:cNvPr id="16" name="Shape 14"/>
          <p:cNvSpPr/>
          <p:nvPr/>
        </p:nvSpPr>
        <p:spPr>
          <a:xfrm>
            <a:off x="12090350" y="7974509"/>
            <a:ext cx="5283250" cy="9525"/>
          </a:xfrm>
          <a:prstGeom prst="rect">
            <a:avLst/>
          </a:prstGeom>
          <a:solidFill>
            <a:srgbClr val="3A444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5"/>
          <p:cNvSpPr/>
          <p:nvPr/>
        </p:nvSpPr>
        <p:spPr>
          <a:xfrm>
            <a:off x="12090350" y="8174534"/>
            <a:ext cx="581157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400" b="1" noProof="0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Fonctionnels</a:t>
            </a:r>
            <a:endParaRPr lang="fr-FR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12090350" y="8598396"/>
            <a:ext cx="5441747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fr-FR" sz="1950" noProof="0" dirty="0">
                <a:solidFill>
                  <a:srgbClr val="B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Joués sur l'API déployée en </a:t>
            </a:r>
            <a:r>
              <a:rPr lang="fr-FR" sz="1950" noProof="0" dirty="0" err="1">
                <a:solidFill>
                  <a:srgbClr val="B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r>
              <a:rPr lang="fr-FR" sz="1950" noProof="0" dirty="0">
                <a:solidFill>
                  <a:srgbClr val="B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par requêtes HTTP : le contrat est vérifié de l'extérieur</a:t>
            </a:r>
            <a:endParaRPr lang="fr-FR" sz="195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D2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1810512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kern="0" spc="273" noProof="0" dirty="0">
                <a:solidFill>
                  <a:srgbClr val="8F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STRATÉGIE GIT</a:t>
            </a:r>
            <a:endParaRPr lang="fr-FR" sz="1950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1004887"/>
            <a:ext cx="18105120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3900" b="1" kern="0" spc="-78" noProof="0" dirty="0" err="1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Gitflow</a:t>
            </a:r>
            <a:endParaRPr lang="fr-FR" sz="3900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733550"/>
            <a:ext cx="16459200" cy="75485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472613"/>
            <a:ext cx="429487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b="1" noProof="0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</a:t>
            </a:r>
            <a:r>
              <a:rPr lang="fr-FR" sz="1950" noProof="0" dirty="0">
                <a:solidFill>
                  <a:srgbClr val="B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ce qui tourne en production</a:t>
            </a:r>
            <a:endParaRPr lang="fr-FR" sz="1950" noProof="0" dirty="0"/>
          </a:p>
        </p:txBody>
      </p:sp>
      <p:sp>
        <p:nvSpPr>
          <p:cNvPr id="6" name="Text 3"/>
          <p:cNvSpPr/>
          <p:nvPr/>
        </p:nvSpPr>
        <p:spPr>
          <a:xfrm>
            <a:off x="5352231" y="9472613"/>
            <a:ext cx="759463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b="1" noProof="0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release/* </a:t>
            </a:r>
            <a:r>
              <a:rPr lang="fr-FR" sz="1950" noProof="0" dirty="0">
                <a:solidFill>
                  <a:srgbClr val="B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déployée en </a:t>
            </a:r>
            <a:r>
              <a:rPr lang="fr-FR" sz="1950" noProof="0" dirty="0" err="1">
                <a:solidFill>
                  <a:srgbClr val="B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r>
              <a:rPr lang="fr-FR" sz="1950" noProof="0" dirty="0">
                <a:solidFill>
                  <a:srgbClr val="B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et testée en conditions réelles</a:t>
            </a:r>
            <a:endParaRPr lang="fr-FR" sz="1950" noProof="0" dirty="0"/>
          </a:p>
        </p:txBody>
      </p:sp>
      <p:sp>
        <p:nvSpPr>
          <p:cNvPr id="7" name="Text 4"/>
          <p:cNvSpPr/>
          <p:nvPr/>
        </p:nvSpPr>
        <p:spPr>
          <a:xfrm>
            <a:off x="12789843" y="9472613"/>
            <a:ext cx="492802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b="1" noProof="0" dirty="0" err="1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</a:t>
            </a:r>
            <a:r>
              <a:rPr lang="fr-FR" sz="1950" b="1" noProof="0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fr-FR" sz="1950" noProof="0" dirty="0">
                <a:solidFill>
                  <a:srgbClr val="B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intégration du travail en cours</a:t>
            </a:r>
            <a:endParaRPr lang="fr-FR" sz="195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6700"/>
            <a:ext cx="422832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3450" b="1" kern="0" spc="-69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livraison</a:t>
            </a:r>
            <a:endParaRPr lang="fr-FR" sz="3450" noProof="0" dirty="0"/>
          </a:p>
        </p:txBody>
      </p:sp>
      <p:sp>
        <p:nvSpPr>
          <p:cNvPr id="3" name="Text 1"/>
          <p:cNvSpPr/>
          <p:nvPr/>
        </p:nvSpPr>
        <p:spPr>
          <a:xfrm>
            <a:off x="5025033" y="400050"/>
            <a:ext cx="336843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déploiement manuel</a:t>
            </a:r>
            <a:endParaRPr lang="fr-FR" sz="1950" noProof="0" dirty="0"/>
          </a:p>
        </p:txBody>
      </p:sp>
      <p:sp>
        <p:nvSpPr>
          <p:cNvPr id="4" name="Shape 2"/>
          <p:cNvSpPr/>
          <p:nvPr/>
        </p:nvSpPr>
        <p:spPr>
          <a:xfrm>
            <a:off x="3743325" y="1176338"/>
            <a:ext cx="108013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4000500" y="1419225"/>
            <a:ext cx="26193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2A7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Actions</a:t>
            </a:r>
            <a:endParaRPr lang="fr-FR" sz="1800" noProof="0" dirty="0"/>
          </a:p>
        </p:txBody>
      </p:sp>
      <p:sp>
        <p:nvSpPr>
          <p:cNvPr id="6" name="Text 4"/>
          <p:cNvSpPr/>
          <p:nvPr/>
        </p:nvSpPr>
        <p:spPr>
          <a:xfrm>
            <a:off x="6629400" y="1409700"/>
            <a:ext cx="34575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Déclenchement</a:t>
            </a:r>
            <a:endParaRPr lang="fr-FR" sz="2250" noProof="0" dirty="0"/>
          </a:p>
        </p:txBody>
      </p:sp>
      <p:sp>
        <p:nvSpPr>
          <p:cNvPr id="7" name="Text 5"/>
          <p:cNvSpPr/>
          <p:nvPr/>
        </p:nvSpPr>
        <p:spPr>
          <a:xfrm>
            <a:off x="10020300" y="1271588"/>
            <a:ext cx="439521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chaque push et à chaque demande de fusion</a:t>
            </a:r>
            <a:endParaRPr lang="fr-FR" sz="1800" noProof="0" dirty="0"/>
          </a:p>
        </p:txBody>
      </p:sp>
      <p:sp>
        <p:nvSpPr>
          <p:cNvPr id="8" name="Shape 6"/>
          <p:cNvSpPr/>
          <p:nvPr/>
        </p:nvSpPr>
        <p:spPr>
          <a:xfrm>
            <a:off x="9134475" y="1966912"/>
            <a:ext cx="19050" cy="11430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7"/>
          <p:cNvSpPr/>
          <p:nvPr/>
        </p:nvSpPr>
        <p:spPr>
          <a:xfrm>
            <a:off x="9067800" y="2081212"/>
            <a:ext cx="152400" cy="104775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8"/>
          <p:cNvSpPr/>
          <p:nvPr/>
        </p:nvSpPr>
        <p:spPr>
          <a:xfrm>
            <a:off x="3733800" y="2195513"/>
            <a:ext cx="10820400" cy="523875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9050">
            <a:solidFill>
              <a:srgbClr val="2A75B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4000500" y="2309813"/>
            <a:ext cx="26193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2A7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contrôle qualité</a:t>
            </a:r>
            <a:endParaRPr lang="fr-FR" sz="1800" noProof="0" dirty="0"/>
          </a:p>
        </p:txBody>
      </p:sp>
      <p:sp>
        <p:nvSpPr>
          <p:cNvPr id="12" name="Text 10"/>
          <p:cNvSpPr/>
          <p:nvPr/>
        </p:nvSpPr>
        <p:spPr>
          <a:xfrm>
            <a:off x="6629400" y="2300288"/>
            <a:ext cx="34575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Style, typage, tests</a:t>
            </a:r>
            <a:endParaRPr lang="fr-FR" sz="2250" noProof="0" dirty="0"/>
          </a:p>
        </p:txBody>
      </p:sp>
      <p:sp>
        <p:nvSpPr>
          <p:cNvPr id="13" name="Text 11"/>
          <p:cNvSpPr/>
          <p:nvPr/>
        </p:nvSpPr>
        <p:spPr>
          <a:xfrm>
            <a:off x="10020300" y="2309813"/>
            <a:ext cx="46939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seul échec arrête la chaîne</a:t>
            </a:r>
            <a:endParaRPr lang="fr-FR" sz="1800" noProof="0" dirty="0"/>
          </a:p>
        </p:txBody>
      </p:sp>
      <p:sp>
        <p:nvSpPr>
          <p:cNvPr id="14" name="Shape 12"/>
          <p:cNvSpPr/>
          <p:nvPr/>
        </p:nvSpPr>
        <p:spPr>
          <a:xfrm>
            <a:off x="9134475" y="2728913"/>
            <a:ext cx="19050" cy="11430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9067800" y="2843213"/>
            <a:ext cx="152400" cy="104775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7703790" y="2947988"/>
            <a:ext cx="31684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 release/* et main</a:t>
            </a:r>
            <a:endParaRPr lang="fr-FR" sz="1800" noProof="0" dirty="0"/>
          </a:p>
        </p:txBody>
      </p:sp>
      <p:sp>
        <p:nvSpPr>
          <p:cNvPr id="17" name="Shape 15"/>
          <p:cNvSpPr/>
          <p:nvPr/>
        </p:nvSpPr>
        <p:spPr>
          <a:xfrm>
            <a:off x="3743325" y="3262313"/>
            <a:ext cx="108013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 r="-604464"/>
          <a:stretch/>
        </p:blipFill>
        <p:spPr>
          <a:xfrm>
            <a:off x="4000500" y="3519488"/>
            <a:ext cx="2381250" cy="2667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629400" y="3495675"/>
            <a:ext cx="34575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publiée</a:t>
            </a:r>
            <a:endParaRPr lang="fr-FR" sz="2250" noProof="0" dirty="0"/>
          </a:p>
        </p:txBody>
      </p:sp>
      <p:sp>
        <p:nvSpPr>
          <p:cNvPr id="20" name="Text 17"/>
          <p:cNvSpPr/>
          <p:nvPr/>
        </p:nvSpPr>
        <p:spPr>
          <a:xfrm>
            <a:off x="10020300" y="3357563"/>
            <a:ext cx="439521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Construite une fois, puis déposée dans le registre</a:t>
            </a:r>
            <a:endParaRPr lang="fr-FR" sz="1800" noProof="0" dirty="0"/>
          </a:p>
        </p:txBody>
      </p:sp>
      <p:sp>
        <p:nvSpPr>
          <p:cNvPr id="21" name="Shape 18"/>
          <p:cNvSpPr/>
          <p:nvPr/>
        </p:nvSpPr>
        <p:spPr>
          <a:xfrm>
            <a:off x="9134475" y="4052888"/>
            <a:ext cx="19050" cy="11430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9"/>
          <p:cNvSpPr/>
          <p:nvPr/>
        </p:nvSpPr>
        <p:spPr>
          <a:xfrm>
            <a:off x="9067800" y="4167188"/>
            <a:ext cx="152400" cy="104775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20"/>
          <p:cNvSpPr/>
          <p:nvPr/>
        </p:nvSpPr>
        <p:spPr>
          <a:xfrm>
            <a:off x="3743325" y="4281488"/>
            <a:ext cx="108013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rcRect r="-792857"/>
          <a:stretch/>
        </p:blipFill>
        <p:spPr>
          <a:xfrm>
            <a:off x="4000500" y="4538663"/>
            <a:ext cx="2381250" cy="2667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629400" y="4514850"/>
            <a:ext cx="34575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migrée</a:t>
            </a:r>
            <a:endParaRPr lang="fr-FR" sz="2250" noProof="0" dirty="0"/>
          </a:p>
        </p:txBody>
      </p:sp>
      <p:sp>
        <p:nvSpPr>
          <p:cNvPr id="26" name="Text 22"/>
          <p:cNvSpPr/>
          <p:nvPr/>
        </p:nvSpPr>
        <p:spPr>
          <a:xfrm>
            <a:off x="10020300" y="4376738"/>
            <a:ext cx="439521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idempotente : rejouée sans risque, sans effet si le schéma est à jour</a:t>
            </a:r>
            <a:endParaRPr lang="fr-FR" sz="1800" noProof="0" dirty="0"/>
          </a:p>
        </p:txBody>
      </p:sp>
      <p:sp>
        <p:nvSpPr>
          <p:cNvPr id="27" name="Shape 23"/>
          <p:cNvSpPr/>
          <p:nvPr/>
        </p:nvSpPr>
        <p:spPr>
          <a:xfrm>
            <a:off x="9134475" y="5072063"/>
            <a:ext cx="19050" cy="11430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Shape 24"/>
          <p:cNvSpPr/>
          <p:nvPr/>
        </p:nvSpPr>
        <p:spPr>
          <a:xfrm>
            <a:off x="9067800" y="5186363"/>
            <a:ext cx="152400" cy="104775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Shape 25"/>
          <p:cNvSpPr/>
          <p:nvPr/>
        </p:nvSpPr>
        <p:spPr>
          <a:xfrm>
            <a:off x="3743325" y="5300663"/>
            <a:ext cx="10801350" cy="504825"/>
          </a:xfrm>
          <a:prstGeom prst="roundRect">
            <a:avLst>
              <a:gd name="adj" fmla="val 22642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Text 26"/>
          <p:cNvSpPr/>
          <p:nvPr/>
        </p:nvSpPr>
        <p:spPr>
          <a:xfrm>
            <a:off x="4000500" y="5405438"/>
            <a:ext cx="26193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C77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VPS</a:t>
            </a:r>
            <a:endParaRPr lang="fr-FR" sz="1800" noProof="0" dirty="0"/>
          </a:p>
        </p:txBody>
      </p:sp>
      <p:sp>
        <p:nvSpPr>
          <p:cNvPr id="31" name="Text 27"/>
          <p:cNvSpPr/>
          <p:nvPr/>
        </p:nvSpPr>
        <p:spPr>
          <a:xfrm>
            <a:off x="6629400" y="5395913"/>
            <a:ext cx="34575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</a:t>
            </a:r>
            <a:endParaRPr lang="fr-FR" sz="2250" noProof="0" dirty="0"/>
          </a:p>
        </p:txBody>
      </p:sp>
      <p:sp>
        <p:nvSpPr>
          <p:cNvPr id="32" name="Text 28"/>
          <p:cNvSpPr/>
          <p:nvPr/>
        </p:nvSpPr>
        <p:spPr>
          <a:xfrm>
            <a:off x="10020300" y="5405438"/>
            <a:ext cx="46939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nouveau conteneur remplace l'ancien</a:t>
            </a:r>
            <a:endParaRPr lang="fr-FR" sz="1800" noProof="0" dirty="0"/>
          </a:p>
        </p:txBody>
      </p:sp>
      <p:sp>
        <p:nvSpPr>
          <p:cNvPr id="33" name="Shape 29"/>
          <p:cNvSpPr/>
          <p:nvPr/>
        </p:nvSpPr>
        <p:spPr>
          <a:xfrm>
            <a:off x="9134475" y="5815013"/>
            <a:ext cx="19050" cy="11430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Shape 30"/>
          <p:cNvSpPr/>
          <p:nvPr/>
        </p:nvSpPr>
        <p:spPr>
          <a:xfrm>
            <a:off x="9067800" y="5929313"/>
            <a:ext cx="152400" cy="104775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Shape 31"/>
          <p:cNvSpPr/>
          <p:nvPr/>
        </p:nvSpPr>
        <p:spPr>
          <a:xfrm>
            <a:off x="3743325" y="6043613"/>
            <a:ext cx="108013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6" name="Text 32"/>
          <p:cNvSpPr/>
          <p:nvPr/>
        </p:nvSpPr>
        <p:spPr>
          <a:xfrm>
            <a:off x="4000500" y="6286500"/>
            <a:ext cx="26193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C77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fr-FR" sz="1800" noProof="0" dirty="0" err="1">
                <a:solidFill>
                  <a:srgbClr val="C77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</a:t>
            </a:r>
            <a:endParaRPr lang="fr-FR" sz="1800" noProof="0" dirty="0"/>
          </a:p>
        </p:txBody>
      </p:sp>
      <p:sp>
        <p:nvSpPr>
          <p:cNvPr id="37" name="Text 33"/>
          <p:cNvSpPr/>
          <p:nvPr/>
        </p:nvSpPr>
        <p:spPr>
          <a:xfrm>
            <a:off x="6629400" y="6276975"/>
            <a:ext cx="34575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 bon sens</a:t>
            </a:r>
            <a:endParaRPr lang="fr-FR" sz="2250" noProof="0" dirty="0"/>
          </a:p>
        </p:txBody>
      </p:sp>
      <p:sp>
        <p:nvSpPr>
          <p:cNvPr id="38" name="Text 34"/>
          <p:cNvSpPr/>
          <p:nvPr/>
        </p:nvSpPr>
        <p:spPr>
          <a:xfrm>
            <a:off x="10020300" y="6138863"/>
            <a:ext cx="439521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service confirme que modèle et base répondent</a:t>
            </a:r>
            <a:endParaRPr lang="fr-FR" sz="1800" noProof="0" dirty="0"/>
          </a:p>
        </p:txBody>
      </p:sp>
      <p:sp>
        <p:nvSpPr>
          <p:cNvPr id="39" name="Shape 35"/>
          <p:cNvSpPr/>
          <p:nvPr/>
        </p:nvSpPr>
        <p:spPr>
          <a:xfrm>
            <a:off x="9134401" y="6834188"/>
            <a:ext cx="19050" cy="11430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0" name="Shape 36"/>
          <p:cNvSpPr/>
          <p:nvPr/>
        </p:nvSpPr>
        <p:spPr>
          <a:xfrm>
            <a:off x="9067726" y="6948488"/>
            <a:ext cx="152400" cy="104775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Text 37"/>
          <p:cNvSpPr/>
          <p:nvPr/>
        </p:nvSpPr>
        <p:spPr>
          <a:xfrm>
            <a:off x="7635180" y="7053263"/>
            <a:ext cx="33193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puis, selon la branche</a:t>
            </a:r>
            <a:endParaRPr lang="fr-FR" sz="1800" noProof="0" dirty="0"/>
          </a:p>
        </p:txBody>
      </p:sp>
      <p:sp>
        <p:nvSpPr>
          <p:cNvPr id="42" name="Shape 38"/>
          <p:cNvSpPr/>
          <p:nvPr/>
        </p:nvSpPr>
        <p:spPr>
          <a:xfrm>
            <a:off x="3752850" y="7367587"/>
            <a:ext cx="10782300" cy="762000"/>
          </a:xfrm>
          <a:prstGeom prst="roundRect">
            <a:avLst>
              <a:gd name="adj" fmla="val 15000"/>
            </a:avLst>
          </a:prstGeom>
          <a:solidFill>
            <a:srgbClr val="1D222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3" name="Text 39"/>
          <p:cNvSpPr/>
          <p:nvPr/>
        </p:nvSpPr>
        <p:spPr>
          <a:xfrm>
            <a:off x="4000500" y="7600950"/>
            <a:ext cx="26193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9F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release/*</a:t>
            </a:r>
            <a:endParaRPr lang="fr-FR" sz="1800" noProof="0" dirty="0"/>
          </a:p>
        </p:txBody>
      </p:sp>
      <p:sp>
        <p:nvSpPr>
          <p:cNvPr id="44" name="Text 40"/>
          <p:cNvSpPr/>
          <p:nvPr/>
        </p:nvSpPr>
        <p:spPr>
          <a:xfrm>
            <a:off x="6629400" y="7591425"/>
            <a:ext cx="34575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fonctionnels</a:t>
            </a:r>
            <a:endParaRPr lang="fr-FR" sz="2250" noProof="0" dirty="0"/>
          </a:p>
        </p:txBody>
      </p:sp>
      <p:sp>
        <p:nvSpPr>
          <p:cNvPr id="45" name="Text 41"/>
          <p:cNvSpPr/>
          <p:nvPr/>
        </p:nvSpPr>
        <p:spPr>
          <a:xfrm>
            <a:off x="10020300" y="7453312"/>
            <a:ext cx="439521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D7D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Joués sur l'API déployée en </a:t>
            </a:r>
            <a:r>
              <a:rPr lang="fr-FR" sz="1800" noProof="0" dirty="0" err="1">
                <a:solidFill>
                  <a:srgbClr val="D7D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r>
              <a:rPr lang="fr-FR" sz="1800" noProof="0" dirty="0">
                <a:solidFill>
                  <a:srgbClr val="D7D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avant toute promotion</a:t>
            </a:r>
            <a:endParaRPr lang="fr-FR" sz="1800" noProof="0" dirty="0"/>
          </a:p>
        </p:txBody>
      </p:sp>
      <p:sp>
        <p:nvSpPr>
          <p:cNvPr id="46" name="Shape 42"/>
          <p:cNvSpPr/>
          <p:nvPr/>
        </p:nvSpPr>
        <p:spPr>
          <a:xfrm>
            <a:off x="9134475" y="8129588"/>
            <a:ext cx="19050" cy="11430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7" name="Shape 43"/>
          <p:cNvSpPr/>
          <p:nvPr/>
        </p:nvSpPr>
        <p:spPr>
          <a:xfrm>
            <a:off x="9067800" y="8243888"/>
            <a:ext cx="152400" cy="104775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8" name="Shape 44"/>
          <p:cNvSpPr/>
          <p:nvPr/>
        </p:nvSpPr>
        <p:spPr>
          <a:xfrm>
            <a:off x="3752850" y="8348663"/>
            <a:ext cx="10782300" cy="1352550"/>
          </a:xfrm>
          <a:prstGeom prst="roundRect">
            <a:avLst>
              <a:gd name="adj" fmla="val 8451"/>
            </a:avLst>
          </a:prstGeom>
          <a:solidFill>
            <a:srgbClr val="1D222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9" name="Text 45"/>
          <p:cNvSpPr/>
          <p:nvPr/>
        </p:nvSpPr>
        <p:spPr>
          <a:xfrm>
            <a:off x="4000500" y="8877300"/>
            <a:ext cx="26193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9F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fr-FR" sz="1800" noProof="0" dirty="0"/>
          </a:p>
        </p:txBody>
      </p:sp>
      <p:sp>
        <p:nvSpPr>
          <p:cNvPr id="50" name="Text 46"/>
          <p:cNvSpPr/>
          <p:nvPr/>
        </p:nvSpPr>
        <p:spPr>
          <a:xfrm>
            <a:off x="6629400" y="8867775"/>
            <a:ext cx="34575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production</a:t>
            </a:r>
            <a:endParaRPr lang="fr-FR" sz="2250" noProof="0" dirty="0"/>
          </a:p>
        </p:txBody>
      </p:sp>
      <p:sp>
        <p:nvSpPr>
          <p:cNvPr id="51" name="Text 47"/>
          <p:cNvSpPr/>
          <p:nvPr/>
        </p:nvSpPr>
        <p:spPr>
          <a:xfrm>
            <a:off x="10020300" y="8434388"/>
            <a:ext cx="4395216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D7D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chaîne, sans rejouer les tests fonctionnels : la version a déjà été validée en </a:t>
            </a:r>
            <a:r>
              <a:rPr lang="fr-FR" sz="1800" noProof="0" dirty="0" err="1">
                <a:solidFill>
                  <a:srgbClr val="D7D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r>
              <a:rPr lang="fr-FR" sz="1800" noProof="0" dirty="0">
                <a:solidFill>
                  <a:srgbClr val="D7D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Seul le contrôle de bon sens confirme la mise en service.</a:t>
            </a:r>
            <a:endParaRPr lang="fr-FR" sz="18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810512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kern="0" spc="273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STOCKAGE</a:t>
            </a:r>
            <a:endParaRPr lang="fr-FR" sz="1950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1252538"/>
            <a:ext cx="18105120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4650" b="1" kern="0" spc="-93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Traçabilité des prédictions</a:t>
            </a:r>
            <a:endParaRPr lang="fr-FR" sz="465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2219325"/>
            <a:ext cx="438589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kern="0" spc="195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PREDICTION_EVENTS</a:t>
            </a:r>
            <a:endParaRPr lang="fr-FR" sz="1950" noProof="0" dirty="0"/>
          </a:p>
        </p:txBody>
      </p:sp>
      <p:sp>
        <p:nvSpPr>
          <p:cNvPr id="5" name="Shape 3"/>
          <p:cNvSpPr/>
          <p:nvPr/>
        </p:nvSpPr>
        <p:spPr>
          <a:xfrm>
            <a:off x="914400" y="2690813"/>
            <a:ext cx="8805267" cy="4933950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923925" y="2700338"/>
            <a:ext cx="8786217" cy="571500"/>
          </a:xfrm>
          <a:prstGeom prst="rect">
            <a:avLst/>
          </a:prstGeom>
          <a:solidFill>
            <a:srgbClr val="EFEEE9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923925" y="3262313"/>
            <a:ext cx="8786217" cy="9525"/>
          </a:xfrm>
          <a:prstGeom prst="rect">
            <a:avLst/>
          </a:prstGeom>
          <a:solidFill>
            <a:srgbClr val="DCD9D3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1152525" y="2833688"/>
            <a:ext cx="38986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colonne</a:t>
            </a:r>
            <a:endParaRPr lang="fr-FR" sz="1800" noProof="0" dirty="0"/>
          </a:p>
        </p:txBody>
      </p:sp>
      <p:sp>
        <p:nvSpPr>
          <p:cNvPr id="9" name="Text 7"/>
          <p:cNvSpPr/>
          <p:nvPr/>
        </p:nvSpPr>
        <p:spPr>
          <a:xfrm>
            <a:off x="4696718" y="2833688"/>
            <a:ext cx="526330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 qu'elle permet</a:t>
            </a:r>
            <a:endParaRPr lang="fr-FR" sz="1800" noProof="0" dirty="0"/>
          </a:p>
        </p:txBody>
      </p:sp>
      <p:sp>
        <p:nvSpPr>
          <p:cNvPr id="10" name="Shape 8"/>
          <p:cNvSpPr/>
          <p:nvPr/>
        </p:nvSpPr>
        <p:spPr>
          <a:xfrm>
            <a:off x="923925" y="3838575"/>
            <a:ext cx="8786217" cy="9525"/>
          </a:xfrm>
          <a:prstGeom prst="rect">
            <a:avLst/>
          </a:prstGeom>
          <a:solidFill>
            <a:srgbClr val="DCD9D3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1152525" y="3395663"/>
            <a:ext cx="389861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 err="1">
                <a:solidFill>
                  <a:srgbClr val="17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prediction_id</a:t>
            </a:r>
            <a:endParaRPr lang="fr-FR" sz="1950" noProof="0" dirty="0"/>
          </a:p>
        </p:txBody>
      </p:sp>
      <p:sp>
        <p:nvSpPr>
          <p:cNvPr id="12" name="Text 10"/>
          <p:cNvSpPr/>
          <p:nvPr/>
        </p:nvSpPr>
        <p:spPr>
          <a:xfrm>
            <a:off x="4696718" y="3395663"/>
            <a:ext cx="526330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Retrouver un dossier précis</a:t>
            </a:r>
            <a:endParaRPr lang="fr-FR" sz="1950" noProof="0" dirty="0"/>
          </a:p>
        </p:txBody>
      </p:sp>
      <p:sp>
        <p:nvSpPr>
          <p:cNvPr id="13" name="Shape 11"/>
          <p:cNvSpPr/>
          <p:nvPr/>
        </p:nvSpPr>
        <p:spPr>
          <a:xfrm>
            <a:off x="923925" y="4414838"/>
            <a:ext cx="8786217" cy="9525"/>
          </a:xfrm>
          <a:prstGeom prst="rect">
            <a:avLst/>
          </a:prstGeom>
          <a:solidFill>
            <a:srgbClr val="DCD9D3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1152525" y="3971925"/>
            <a:ext cx="389861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 err="1">
                <a:solidFill>
                  <a:srgbClr val="17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fr-FR" sz="1950" noProof="0" dirty="0"/>
          </a:p>
        </p:txBody>
      </p:sp>
      <p:sp>
        <p:nvSpPr>
          <p:cNvPr id="15" name="Text 13"/>
          <p:cNvSpPr/>
          <p:nvPr/>
        </p:nvSpPr>
        <p:spPr>
          <a:xfrm>
            <a:off x="4696718" y="3971925"/>
            <a:ext cx="526330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Situer la décision dans le temps</a:t>
            </a:r>
            <a:endParaRPr lang="fr-FR" sz="1950" noProof="0" dirty="0"/>
          </a:p>
        </p:txBody>
      </p:sp>
      <p:sp>
        <p:nvSpPr>
          <p:cNvPr id="16" name="Shape 14"/>
          <p:cNvSpPr/>
          <p:nvPr/>
        </p:nvSpPr>
        <p:spPr>
          <a:xfrm>
            <a:off x="923925" y="4991100"/>
            <a:ext cx="8786217" cy="9525"/>
          </a:xfrm>
          <a:prstGeom prst="rect">
            <a:avLst/>
          </a:prstGeom>
          <a:solidFill>
            <a:srgbClr val="DCD9D3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5"/>
          <p:cNvSpPr/>
          <p:nvPr/>
        </p:nvSpPr>
        <p:spPr>
          <a:xfrm>
            <a:off x="1152525" y="4548188"/>
            <a:ext cx="389861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 err="1">
                <a:solidFill>
                  <a:srgbClr val="17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model_version</a:t>
            </a:r>
            <a:endParaRPr lang="fr-FR" sz="1950" noProof="0" dirty="0"/>
          </a:p>
        </p:txBody>
      </p:sp>
      <p:sp>
        <p:nvSpPr>
          <p:cNvPr id="18" name="Text 16"/>
          <p:cNvSpPr/>
          <p:nvPr/>
        </p:nvSpPr>
        <p:spPr>
          <a:xfrm>
            <a:off x="4696718" y="4548188"/>
            <a:ext cx="526330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Savoir quel modèle a répondu</a:t>
            </a:r>
            <a:endParaRPr lang="fr-FR" sz="1950" noProof="0" dirty="0"/>
          </a:p>
        </p:txBody>
      </p:sp>
      <p:sp>
        <p:nvSpPr>
          <p:cNvPr id="19" name="Shape 17"/>
          <p:cNvSpPr/>
          <p:nvPr/>
        </p:nvSpPr>
        <p:spPr>
          <a:xfrm>
            <a:off x="923925" y="5567363"/>
            <a:ext cx="8786217" cy="9525"/>
          </a:xfrm>
          <a:prstGeom prst="rect">
            <a:avLst/>
          </a:prstGeom>
          <a:solidFill>
            <a:srgbClr val="DCD9D3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1152525" y="5124450"/>
            <a:ext cx="389861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 err="1">
                <a:solidFill>
                  <a:srgbClr val="17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fr-FR" sz="1950" noProof="0" dirty="0"/>
          </a:p>
        </p:txBody>
      </p:sp>
      <p:sp>
        <p:nvSpPr>
          <p:cNvPr id="21" name="Text 19"/>
          <p:cNvSpPr/>
          <p:nvPr/>
        </p:nvSpPr>
        <p:spPr>
          <a:xfrm>
            <a:off x="4696718" y="5124450"/>
            <a:ext cx="526330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Distinguer succès et échecs</a:t>
            </a:r>
            <a:endParaRPr lang="fr-FR" sz="1950" noProof="0" dirty="0"/>
          </a:p>
        </p:txBody>
      </p:sp>
      <p:sp>
        <p:nvSpPr>
          <p:cNvPr id="22" name="Shape 20"/>
          <p:cNvSpPr/>
          <p:nvPr/>
        </p:nvSpPr>
        <p:spPr>
          <a:xfrm>
            <a:off x="923925" y="6143625"/>
            <a:ext cx="8786217" cy="9525"/>
          </a:xfrm>
          <a:prstGeom prst="rect">
            <a:avLst/>
          </a:prstGeom>
          <a:solidFill>
            <a:srgbClr val="DCD9D3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21"/>
          <p:cNvSpPr/>
          <p:nvPr/>
        </p:nvSpPr>
        <p:spPr>
          <a:xfrm>
            <a:off x="1152525" y="5700713"/>
            <a:ext cx="389861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17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· </a:t>
            </a:r>
            <a:r>
              <a:rPr lang="fr-FR" sz="1950" noProof="0" dirty="0" err="1">
                <a:solidFill>
                  <a:srgbClr val="17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fr-FR" sz="1950" noProof="0" dirty="0"/>
          </a:p>
        </p:txBody>
      </p:sp>
      <p:sp>
        <p:nvSpPr>
          <p:cNvPr id="24" name="Text 22"/>
          <p:cNvSpPr/>
          <p:nvPr/>
        </p:nvSpPr>
        <p:spPr>
          <a:xfrm>
            <a:off x="4696718" y="5700713"/>
            <a:ext cx="526330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Auditer la réponse rendue</a:t>
            </a:r>
            <a:endParaRPr lang="fr-FR" sz="1950" noProof="0" dirty="0"/>
          </a:p>
        </p:txBody>
      </p:sp>
      <p:sp>
        <p:nvSpPr>
          <p:cNvPr id="25" name="Shape 23"/>
          <p:cNvSpPr/>
          <p:nvPr/>
        </p:nvSpPr>
        <p:spPr>
          <a:xfrm>
            <a:off x="923925" y="6719888"/>
            <a:ext cx="8786217" cy="9525"/>
          </a:xfrm>
          <a:prstGeom prst="rect">
            <a:avLst/>
          </a:prstGeom>
          <a:solidFill>
            <a:srgbClr val="DCD9D3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4"/>
          <p:cNvSpPr/>
          <p:nvPr/>
        </p:nvSpPr>
        <p:spPr>
          <a:xfrm>
            <a:off x="1152525" y="6276975"/>
            <a:ext cx="389861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 err="1">
                <a:solidFill>
                  <a:srgbClr val="17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inference_ms</a:t>
            </a:r>
            <a:endParaRPr lang="fr-FR" sz="1950" noProof="0" dirty="0"/>
          </a:p>
        </p:txBody>
      </p:sp>
      <p:sp>
        <p:nvSpPr>
          <p:cNvPr id="27" name="Text 25"/>
          <p:cNvSpPr/>
          <p:nvPr/>
        </p:nvSpPr>
        <p:spPr>
          <a:xfrm>
            <a:off x="4696718" y="6276975"/>
            <a:ext cx="526330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Suivre la latence réelle du modèle</a:t>
            </a:r>
            <a:endParaRPr lang="fr-FR" sz="1950" noProof="0" dirty="0"/>
          </a:p>
        </p:txBody>
      </p:sp>
      <p:sp>
        <p:nvSpPr>
          <p:cNvPr id="28" name="Text 26"/>
          <p:cNvSpPr/>
          <p:nvPr/>
        </p:nvSpPr>
        <p:spPr>
          <a:xfrm>
            <a:off x="1152525" y="6853238"/>
            <a:ext cx="3650519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 err="1">
                <a:solidFill>
                  <a:srgbClr val="17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</a:t>
            </a:r>
            <a:endParaRPr lang="fr-FR" sz="1950" noProof="0" dirty="0"/>
          </a:p>
        </p:txBody>
      </p:sp>
      <p:sp>
        <p:nvSpPr>
          <p:cNvPr id="29" name="Text 27"/>
          <p:cNvSpPr/>
          <p:nvPr/>
        </p:nvSpPr>
        <p:spPr>
          <a:xfrm>
            <a:off x="4696718" y="6853238"/>
            <a:ext cx="4928369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50 variables, base de l'analyse de dérive</a:t>
            </a:r>
            <a:endParaRPr lang="fr-FR" sz="1950" noProof="0" dirty="0"/>
          </a:p>
        </p:txBody>
      </p:sp>
      <p:sp>
        <p:nvSpPr>
          <p:cNvPr id="30" name="Shape 28"/>
          <p:cNvSpPr/>
          <p:nvPr/>
        </p:nvSpPr>
        <p:spPr>
          <a:xfrm>
            <a:off x="10329267" y="2219325"/>
            <a:ext cx="7044333" cy="1732508"/>
          </a:xfrm>
          <a:prstGeom prst="roundRect">
            <a:avLst>
              <a:gd name="adj" fmla="val 6597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86442" y="2895079"/>
            <a:ext cx="381000" cy="3810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215092" y="2438400"/>
            <a:ext cx="649146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400" b="1" noProof="0" dirty="0" err="1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fr-FR" sz="2400" noProof="0" dirty="0"/>
          </a:p>
        </p:txBody>
      </p:sp>
      <p:sp>
        <p:nvSpPr>
          <p:cNvPr id="33" name="Text 30"/>
          <p:cNvSpPr/>
          <p:nvPr/>
        </p:nvSpPr>
        <p:spPr>
          <a:xfrm>
            <a:off x="11215092" y="2767013"/>
            <a:ext cx="6078373" cy="1003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667"/>
              </a:lnSpc>
              <a:buNone/>
            </a:pPr>
            <a:r>
              <a:rPr lang="fr-FR" sz="195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Héberge la base PostgreSQL en </a:t>
            </a:r>
            <a:r>
              <a:rPr lang="fr-FR" sz="1950" noProof="0" dirty="0" err="1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r>
              <a:rPr lang="fr-FR" sz="195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comme en production, et permet d'explorer les données directement</a:t>
            </a:r>
            <a:endParaRPr lang="fr-FR" sz="1950" noProof="0" dirty="0"/>
          </a:p>
        </p:txBody>
      </p:sp>
      <p:sp>
        <p:nvSpPr>
          <p:cNvPr id="34" name="Shape 31"/>
          <p:cNvSpPr/>
          <p:nvPr/>
        </p:nvSpPr>
        <p:spPr>
          <a:xfrm>
            <a:off x="10329267" y="4142333"/>
            <a:ext cx="7044333" cy="1309688"/>
          </a:xfrm>
          <a:prstGeom prst="roundRect">
            <a:avLst>
              <a:gd name="adj" fmla="val 8727"/>
            </a:avLst>
          </a:prstGeom>
          <a:solidFill>
            <a:srgbClr val="1D222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 32"/>
          <p:cNvSpPr/>
          <p:nvPr/>
        </p:nvSpPr>
        <p:spPr>
          <a:xfrm>
            <a:off x="10615017" y="4370933"/>
            <a:ext cx="176112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86822"/>
              </a:lnSpc>
              <a:buNone/>
            </a:pPr>
            <a:r>
              <a:rPr lang="fr-FR" sz="4200" b="1" noProof="0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jours</a:t>
            </a:r>
            <a:endParaRPr lang="fr-FR" sz="4200" noProof="0" dirty="0"/>
          </a:p>
        </p:txBody>
      </p:sp>
      <p:sp>
        <p:nvSpPr>
          <p:cNvPr id="36" name="Text 33"/>
          <p:cNvSpPr/>
          <p:nvPr/>
        </p:nvSpPr>
        <p:spPr>
          <a:xfrm>
            <a:off x="10615017" y="4904333"/>
            <a:ext cx="176112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B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</a:t>
            </a:r>
            <a:r>
              <a:rPr lang="fr-FR" sz="1950" noProof="0" dirty="0" err="1">
                <a:solidFill>
                  <a:srgbClr val="B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endParaRPr lang="fr-FR" sz="1950" noProof="0" dirty="0"/>
          </a:p>
        </p:txBody>
      </p:sp>
      <p:sp>
        <p:nvSpPr>
          <p:cNvPr id="37" name="Text 34"/>
          <p:cNvSpPr/>
          <p:nvPr/>
        </p:nvSpPr>
        <p:spPr>
          <a:xfrm>
            <a:off x="12635136" y="4370933"/>
            <a:ext cx="208739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86822"/>
              </a:lnSpc>
              <a:buNone/>
            </a:pPr>
            <a:r>
              <a:rPr lang="fr-FR" sz="4200" b="1" noProof="0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jours</a:t>
            </a:r>
            <a:endParaRPr lang="fr-FR" sz="4200" noProof="0" dirty="0"/>
          </a:p>
        </p:txBody>
      </p:sp>
      <p:sp>
        <p:nvSpPr>
          <p:cNvPr id="38" name="Text 35"/>
          <p:cNvSpPr/>
          <p:nvPr/>
        </p:nvSpPr>
        <p:spPr>
          <a:xfrm>
            <a:off x="12635136" y="4904333"/>
            <a:ext cx="208739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B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production</a:t>
            </a:r>
            <a:endParaRPr lang="fr-FR" sz="1950" noProof="0" dirty="0"/>
          </a:p>
        </p:txBody>
      </p:sp>
      <p:sp>
        <p:nvSpPr>
          <p:cNvPr id="39" name="Text 36"/>
          <p:cNvSpPr/>
          <p:nvPr/>
        </p:nvSpPr>
        <p:spPr>
          <a:xfrm>
            <a:off x="10329267" y="5642521"/>
            <a:ext cx="7255663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fr-FR" sz="195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même table sert trois usages : diagnostic d'incident, audit d'une décision et préparation de l'analyse de dérive.</a:t>
            </a:r>
            <a:endParaRPr lang="fr-FR" sz="195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5340987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3900" b="1" kern="0" spc="-78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Chaîne d'observabilité</a:t>
            </a:r>
            <a:endParaRPr lang="fr-FR" sz="3900" noProof="0" dirty="0"/>
          </a:p>
        </p:txBody>
      </p:sp>
      <p:sp>
        <p:nvSpPr>
          <p:cNvPr id="3" name="Text 1"/>
          <p:cNvSpPr/>
          <p:nvPr/>
        </p:nvSpPr>
        <p:spPr>
          <a:xfrm>
            <a:off x="6036543" y="752475"/>
            <a:ext cx="473083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collecteur, deux stockages, une vue</a:t>
            </a:r>
            <a:endParaRPr lang="fr-FR" sz="1950" noProof="0" dirty="0"/>
          </a:p>
        </p:txBody>
      </p:sp>
      <p:sp>
        <p:nvSpPr>
          <p:cNvPr id="4" name="Shape 2"/>
          <p:cNvSpPr/>
          <p:nvPr/>
        </p:nvSpPr>
        <p:spPr>
          <a:xfrm>
            <a:off x="6143625" y="1319213"/>
            <a:ext cx="6000750" cy="1666875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10650" y="1500188"/>
            <a:ext cx="266700" cy="266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88300" y="1843088"/>
            <a:ext cx="21025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de </a:t>
            </a:r>
            <a:r>
              <a:rPr lang="fr-FR" sz="2250" b="1" noProof="0" dirty="0" err="1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</a:t>
            </a:r>
            <a:endParaRPr lang="fr-FR" sz="2250" noProof="0" dirty="0"/>
          </a:p>
        </p:txBody>
      </p:sp>
      <p:sp>
        <p:nvSpPr>
          <p:cNvPr id="7" name="Text 4"/>
          <p:cNvSpPr/>
          <p:nvPr/>
        </p:nvSpPr>
        <p:spPr>
          <a:xfrm>
            <a:off x="6396990" y="2233613"/>
            <a:ext cx="549402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9091"/>
              </a:lnSpc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 ses mesures et écrit ses journaux en continu</a:t>
            </a:r>
            <a:endParaRPr lang="fr-FR" sz="1800" noProof="0" dirty="0"/>
          </a:p>
        </p:txBody>
      </p:sp>
      <p:sp>
        <p:nvSpPr>
          <p:cNvPr id="8" name="Shape 5"/>
          <p:cNvSpPr/>
          <p:nvPr/>
        </p:nvSpPr>
        <p:spPr>
          <a:xfrm>
            <a:off x="9134475" y="3024188"/>
            <a:ext cx="19050" cy="32385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9067800" y="3348038"/>
            <a:ext cx="152400" cy="104775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/>
          <p:cNvSpPr/>
          <p:nvPr/>
        </p:nvSpPr>
        <p:spPr>
          <a:xfrm>
            <a:off x="5467350" y="3490913"/>
            <a:ext cx="7353300" cy="1719263"/>
          </a:xfrm>
          <a:prstGeom prst="roundRect">
            <a:avLst>
              <a:gd name="adj" fmla="val 6648"/>
            </a:avLst>
          </a:prstGeom>
          <a:solidFill>
            <a:srgbClr val="FFFFFF"/>
          </a:solidFill>
          <a:ln w="19050">
            <a:solidFill>
              <a:srgbClr val="2A75B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9002837" y="3681413"/>
            <a:ext cx="282327" cy="2857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787333" y="4043363"/>
            <a:ext cx="78945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40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Alloy</a:t>
            </a:r>
            <a:endParaRPr lang="fr-FR" sz="2400" noProof="0" dirty="0"/>
          </a:p>
        </p:txBody>
      </p:sp>
      <p:sp>
        <p:nvSpPr>
          <p:cNvPr id="13" name="Text 9"/>
          <p:cNvSpPr/>
          <p:nvPr/>
        </p:nvSpPr>
        <p:spPr>
          <a:xfrm>
            <a:off x="5710238" y="4448175"/>
            <a:ext cx="686752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9091"/>
              </a:lnSpc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Conteneurisé avec l'API : récupère sur place mesures et journaux, puis les expédie</a:t>
            </a:r>
            <a:endParaRPr lang="fr-FR" sz="1800" noProof="0" dirty="0"/>
          </a:p>
        </p:txBody>
      </p:sp>
      <p:sp>
        <p:nvSpPr>
          <p:cNvPr id="14" name="Shape 10"/>
          <p:cNvSpPr/>
          <p:nvPr/>
        </p:nvSpPr>
        <p:spPr>
          <a:xfrm>
            <a:off x="6242596" y="5248275"/>
            <a:ext cx="19050" cy="38100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1"/>
          <p:cNvSpPr/>
          <p:nvPr/>
        </p:nvSpPr>
        <p:spPr>
          <a:xfrm>
            <a:off x="6175921" y="5629275"/>
            <a:ext cx="152400" cy="104775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2"/>
          <p:cNvSpPr/>
          <p:nvPr/>
        </p:nvSpPr>
        <p:spPr>
          <a:xfrm>
            <a:off x="5772076" y="5734050"/>
            <a:ext cx="10363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mesures</a:t>
            </a:r>
            <a:endParaRPr lang="fr-FR" sz="1800" noProof="0" dirty="0"/>
          </a:p>
        </p:txBody>
      </p:sp>
      <p:sp>
        <p:nvSpPr>
          <p:cNvPr id="17" name="Shape 13"/>
          <p:cNvSpPr/>
          <p:nvPr/>
        </p:nvSpPr>
        <p:spPr>
          <a:xfrm>
            <a:off x="11614770" y="5248275"/>
            <a:ext cx="19050" cy="38100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Shape 14"/>
          <p:cNvSpPr/>
          <p:nvPr/>
        </p:nvSpPr>
        <p:spPr>
          <a:xfrm>
            <a:off x="11548095" y="5629275"/>
            <a:ext cx="152400" cy="104775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5"/>
          <p:cNvSpPr/>
          <p:nvPr/>
        </p:nvSpPr>
        <p:spPr>
          <a:xfrm>
            <a:off x="10732740" y="5734050"/>
            <a:ext cx="19614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journaux JSON</a:t>
            </a:r>
            <a:endParaRPr lang="fr-FR" sz="1800" noProof="0" dirty="0"/>
          </a:p>
        </p:txBody>
      </p:sp>
      <p:sp>
        <p:nvSpPr>
          <p:cNvPr id="20" name="Shape 16"/>
          <p:cNvSpPr/>
          <p:nvPr/>
        </p:nvSpPr>
        <p:spPr>
          <a:xfrm>
            <a:off x="4705350" y="6143625"/>
            <a:ext cx="3867150" cy="1666875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t="-4" b="-4"/>
          <a:stretch/>
        </p:blipFill>
        <p:spPr>
          <a:xfrm>
            <a:off x="6484813" y="6305550"/>
            <a:ext cx="308149" cy="3048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835253" y="6686550"/>
            <a:ext cx="17680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fr-FR" sz="2250" noProof="0" dirty="0"/>
          </a:p>
        </p:txBody>
      </p:sp>
      <p:sp>
        <p:nvSpPr>
          <p:cNvPr id="23" name="Text 18"/>
          <p:cNvSpPr/>
          <p:nvPr/>
        </p:nvSpPr>
        <p:spPr>
          <a:xfrm>
            <a:off x="4872990" y="7077075"/>
            <a:ext cx="353187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9091"/>
              </a:lnSpc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Conserve les séries chiffrées dans le temps</a:t>
            </a:r>
            <a:endParaRPr lang="fr-FR" sz="1800" noProof="0" dirty="0"/>
          </a:p>
        </p:txBody>
      </p:sp>
      <p:sp>
        <p:nvSpPr>
          <p:cNvPr id="24" name="Shape 19"/>
          <p:cNvSpPr/>
          <p:nvPr/>
        </p:nvSpPr>
        <p:spPr>
          <a:xfrm>
            <a:off x="9715500" y="6143625"/>
            <a:ext cx="3867150" cy="1666875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96675" y="6305550"/>
            <a:ext cx="304800" cy="3048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368608" y="6686550"/>
            <a:ext cx="63713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Loki</a:t>
            </a:r>
            <a:endParaRPr lang="fr-FR" sz="2250" noProof="0" dirty="0"/>
          </a:p>
        </p:txBody>
      </p:sp>
      <p:sp>
        <p:nvSpPr>
          <p:cNvPr id="27" name="Text 21"/>
          <p:cNvSpPr/>
          <p:nvPr/>
        </p:nvSpPr>
        <p:spPr>
          <a:xfrm>
            <a:off x="9883140" y="7077075"/>
            <a:ext cx="353187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9091"/>
              </a:lnSpc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Conserve les journaux et les rend consultables</a:t>
            </a:r>
            <a:endParaRPr lang="fr-FR" sz="1800" noProof="0" dirty="0"/>
          </a:p>
        </p:txBody>
      </p:sp>
      <p:sp>
        <p:nvSpPr>
          <p:cNvPr id="28" name="Shape 22"/>
          <p:cNvSpPr/>
          <p:nvPr/>
        </p:nvSpPr>
        <p:spPr>
          <a:xfrm>
            <a:off x="7058025" y="7867650"/>
            <a:ext cx="19050" cy="36195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Shape 23"/>
          <p:cNvSpPr/>
          <p:nvPr/>
        </p:nvSpPr>
        <p:spPr>
          <a:xfrm>
            <a:off x="6991350" y="8229600"/>
            <a:ext cx="152400" cy="104775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Shape 24"/>
          <p:cNvSpPr/>
          <p:nvPr/>
        </p:nvSpPr>
        <p:spPr>
          <a:xfrm>
            <a:off x="11210925" y="7867650"/>
            <a:ext cx="19050" cy="36195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Shape 25"/>
          <p:cNvSpPr/>
          <p:nvPr/>
        </p:nvSpPr>
        <p:spPr>
          <a:xfrm>
            <a:off x="11144250" y="8229600"/>
            <a:ext cx="152400" cy="104775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Shape 26"/>
          <p:cNvSpPr/>
          <p:nvPr/>
        </p:nvSpPr>
        <p:spPr>
          <a:xfrm>
            <a:off x="5762625" y="8429625"/>
            <a:ext cx="6762750" cy="1419225"/>
          </a:xfrm>
          <a:prstGeom prst="roundRect">
            <a:avLst>
              <a:gd name="adj" fmla="val 8054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rcRect t="-10" b="-10"/>
          <a:stretch/>
        </p:blipFill>
        <p:spPr>
          <a:xfrm>
            <a:off x="9006929" y="8610600"/>
            <a:ext cx="274141" cy="3048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615363" y="8991600"/>
            <a:ext cx="11334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 err="1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fr-FR" sz="2250" noProof="0" dirty="0"/>
          </a:p>
        </p:txBody>
      </p:sp>
      <p:sp>
        <p:nvSpPr>
          <p:cNvPr id="35" name="Text 28"/>
          <p:cNvSpPr/>
          <p:nvPr/>
        </p:nvSpPr>
        <p:spPr>
          <a:xfrm>
            <a:off x="6129099" y="9382125"/>
            <a:ext cx="60298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9091"/>
              </a:lnSpc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Tableaux de bord techniques et ML pour l'exploitation</a:t>
            </a:r>
            <a:endParaRPr lang="fr-FR" sz="18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8105120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4650" b="1" kern="0" spc="-93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Signaux surveillés</a:t>
            </a:r>
            <a:endParaRPr lang="fr-FR" sz="4650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1862138"/>
            <a:ext cx="871728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kern="0" spc="195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SANTÉ DU SERVICE</a:t>
            </a:r>
            <a:endParaRPr lang="fr-FR" sz="1950" noProof="0" dirty="0"/>
          </a:p>
        </p:txBody>
      </p:sp>
      <p:sp>
        <p:nvSpPr>
          <p:cNvPr id="4" name="Shape 2"/>
          <p:cNvSpPr/>
          <p:nvPr/>
        </p:nvSpPr>
        <p:spPr>
          <a:xfrm>
            <a:off x="914400" y="2352675"/>
            <a:ext cx="7924800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1152525" y="2552700"/>
            <a:ext cx="768629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400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requêtes reçues</a:t>
            </a:r>
            <a:endParaRPr lang="fr-FR" sz="2400" noProof="0" dirty="0"/>
          </a:p>
        </p:txBody>
      </p:sp>
      <p:sp>
        <p:nvSpPr>
          <p:cNvPr id="6" name="Shape 4"/>
          <p:cNvSpPr/>
          <p:nvPr/>
        </p:nvSpPr>
        <p:spPr>
          <a:xfrm>
            <a:off x="914400" y="3324225"/>
            <a:ext cx="7924800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1152525" y="3524250"/>
            <a:ext cx="768629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400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d'erreurs</a:t>
            </a:r>
            <a:endParaRPr lang="fr-FR" sz="2400" noProof="0" dirty="0"/>
          </a:p>
        </p:txBody>
      </p:sp>
      <p:sp>
        <p:nvSpPr>
          <p:cNvPr id="8" name="Shape 6"/>
          <p:cNvSpPr/>
          <p:nvPr/>
        </p:nvSpPr>
        <p:spPr>
          <a:xfrm>
            <a:off x="914400" y="4295775"/>
            <a:ext cx="7924800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1152525" y="4495800"/>
            <a:ext cx="768629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400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réponse de l'API</a:t>
            </a:r>
            <a:endParaRPr lang="fr-FR" sz="2400" noProof="0" dirty="0"/>
          </a:p>
        </p:txBody>
      </p:sp>
      <p:sp>
        <p:nvSpPr>
          <p:cNvPr id="10" name="Shape 8"/>
          <p:cNvSpPr/>
          <p:nvPr/>
        </p:nvSpPr>
        <p:spPr>
          <a:xfrm>
            <a:off x="914400" y="5267325"/>
            <a:ext cx="7924800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1152525" y="5467350"/>
            <a:ext cx="768629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400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Durée de l'inférence</a:t>
            </a:r>
            <a:endParaRPr lang="fr-FR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9448800" y="1862138"/>
            <a:ext cx="871728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kern="0" spc="195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COMPORTEMENT DU MODÈLE</a:t>
            </a:r>
            <a:endParaRPr lang="fr-FR" sz="1950" noProof="0" dirty="0"/>
          </a:p>
        </p:txBody>
      </p:sp>
      <p:sp>
        <p:nvSpPr>
          <p:cNvPr id="13" name="Shape 11"/>
          <p:cNvSpPr/>
          <p:nvPr/>
        </p:nvSpPr>
        <p:spPr>
          <a:xfrm>
            <a:off x="9448800" y="2352675"/>
            <a:ext cx="7924800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9686925" y="2552700"/>
            <a:ext cx="768629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400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des scores</a:t>
            </a:r>
            <a:endParaRPr lang="fr-FR" sz="2400" noProof="0" dirty="0"/>
          </a:p>
        </p:txBody>
      </p:sp>
      <p:sp>
        <p:nvSpPr>
          <p:cNvPr id="15" name="Shape 13"/>
          <p:cNvSpPr/>
          <p:nvPr/>
        </p:nvSpPr>
        <p:spPr>
          <a:xfrm>
            <a:off x="9448800" y="3324225"/>
            <a:ext cx="7924800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9686925" y="3524250"/>
            <a:ext cx="768629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400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Répartition des décisions</a:t>
            </a:r>
            <a:endParaRPr lang="fr-FR" sz="2400" noProof="0" dirty="0"/>
          </a:p>
        </p:txBody>
      </p:sp>
      <p:sp>
        <p:nvSpPr>
          <p:cNvPr id="17" name="Shape 15"/>
          <p:cNvSpPr/>
          <p:nvPr/>
        </p:nvSpPr>
        <p:spPr>
          <a:xfrm>
            <a:off x="9448800" y="4295775"/>
            <a:ext cx="7924800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9686925" y="4495800"/>
            <a:ext cx="768629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400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du modèle en service</a:t>
            </a:r>
            <a:endParaRPr lang="fr-FR" sz="2400" noProof="0" dirty="0"/>
          </a:p>
        </p:txBody>
      </p:sp>
      <p:sp>
        <p:nvSpPr>
          <p:cNvPr id="19" name="Shape 17"/>
          <p:cNvSpPr/>
          <p:nvPr/>
        </p:nvSpPr>
        <p:spPr>
          <a:xfrm>
            <a:off x="9448800" y="5267325"/>
            <a:ext cx="7924800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9686925" y="5467350"/>
            <a:ext cx="768629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400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Journaux structurés, consultables par dossier</a:t>
            </a:r>
            <a:endParaRPr lang="fr-FR" sz="24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14505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3450" b="1" kern="0" spc="-69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tableau de bord en service</a:t>
            </a:r>
            <a:endParaRPr lang="fr-FR" sz="3450" noProof="0" dirty="0"/>
          </a:p>
        </p:txBody>
      </p:sp>
      <p:sp>
        <p:nvSpPr>
          <p:cNvPr id="3" name="Text 1"/>
          <p:cNvSpPr/>
          <p:nvPr/>
        </p:nvSpPr>
        <p:spPr>
          <a:xfrm>
            <a:off x="6767513" y="590550"/>
            <a:ext cx="604658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Santé du modèle en haut, santé du service en bas</a:t>
            </a:r>
            <a:endParaRPr lang="fr-FR" sz="1950" noProof="0" dirty="0"/>
          </a:p>
        </p:txBody>
      </p:sp>
      <p:sp>
        <p:nvSpPr>
          <p:cNvPr id="4" name="Shape 2"/>
          <p:cNvSpPr/>
          <p:nvPr/>
        </p:nvSpPr>
        <p:spPr>
          <a:xfrm>
            <a:off x="1656308" y="1123950"/>
            <a:ext cx="14975384" cy="8762926"/>
          </a:xfrm>
          <a:prstGeom prst="roundRect">
            <a:avLst>
              <a:gd name="adj" fmla="val 1304"/>
            </a:avLst>
          </a:prstGeom>
          <a:ln w="9525">
            <a:solidFill>
              <a:srgbClr val="2B313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b="-90"/>
          <a:stretch/>
        </p:blipFill>
        <p:spPr>
          <a:xfrm>
            <a:off x="1656308" y="1123950"/>
            <a:ext cx="14975384" cy="87629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1810512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kern="0" spc="273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DATA DRIFT</a:t>
            </a:r>
            <a:endParaRPr lang="fr-FR" sz="1950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1004887"/>
            <a:ext cx="18105120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3900" b="1" kern="0" spc="-78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automatique de la dérive</a:t>
            </a:r>
            <a:endParaRPr lang="fr-FR" sz="3900" noProof="0" dirty="0"/>
          </a:p>
        </p:txBody>
      </p:sp>
      <p:sp>
        <p:nvSpPr>
          <p:cNvPr id="4" name="Shape 2"/>
          <p:cNvSpPr/>
          <p:nvPr/>
        </p:nvSpPr>
        <p:spPr>
          <a:xfrm>
            <a:off x="4133850" y="2797969"/>
            <a:ext cx="4438650" cy="1666875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00775" y="2959894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36629" y="3340894"/>
            <a:ext cx="17964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 err="1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</a:t>
            </a:r>
            <a:r>
              <a:rPr lang="fr-FR" sz="225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privé</a:t>
            </a:r>
            <a:endParaRPr lang="fr-FR" sz="2250" noProof="0" dirty="0"/>
          </a:p>
        </p:txBody>
      </p:sp>
      <p:sp>
        <p:nvSpPr>
          <p:cNvPr id="7" name="Text 4"/>
          <p:cNvSpPr/>
          <p:nvPr/>
        </p:nvSpPr>
        <p:spPr>
          <a:xfrm>
            <a:off x="4292918" y="3731419"/>
            <a:ext cx="412051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9091"/>
              </a:lnSpc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Fournit la référence d'entraînement des 50 variables</a:t>
            </a:r>
            <a:endParaRPr lang="fr-FR" sz="1800" noProof="0" dirty="0"/>
          </a:p>
        </p:txBody>
      </p:sp>
      <p:sp>
        <p:nvSpPr>
          <p:cNvPr id="8" name="Shape 5"/>
          <p:cNvSpPr/>
          <p:nvPr/>
        </p:nvSpPr>
        <p:spPr>
          <a:xfrm>
            <a:off x="9715500" y="2797969"/>
            <a:ext cx="4438650" cy="1666875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782425" y="2959894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270679" y="3340894"/>
            <a:ext cx="14610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 err="1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fr-FR" sz="2250" noProof="0" dirty="0"/>
          </a:p>
        </p:txBody>
      </p:sp>
      <p:sp>
        <p:nvSpPr>
          <p:cNvPr id="11" name="Text 7"/>
          <p:cNvSpPr/>
          <p:nvPr/>
        </p:nvSpPr>
        <p:spPr>
          <a:xfrm>
            <a:off x="9874568" y="3731419"/>
            <a:ext cx="412051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9091"/>
              </a:lnSpc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Fournit les prédictions récentes du service</a:t>
            </a:r>
            <a:endParaRPr lang="fr-FR" sz="1800" noProof="0" dirty="0"/>
          </a:p>
        </p:txBody>
      </p:sp>
      <p:sp>
        <p:nvSpPr>
          <p:cNvPr id="12" name="Shape 8"/>
          <p:cNvSpPr/>
          <p:nvPr/>
        </p:nvSpPr>
        <p:spPr>
          <a:xfrm>
            <a:off x="6562725" y="4502944"/>
            <a:ext cx="19050" cy="34290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9"/>
          <p:cNvSpPr/>
          <p:nvPr/>
        </p:nvSpPr>
        <p:spPr>
          <a:xfrm>
            <a:off x="6496050" y="4845844"/>
            <a:ext cx="152400" cy="104775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10"/>
          <p:cNvSpPr/>
          <p:nvPr/>
        </p:nvSpPr>
        <p:spPr>
          <a:xfrm>
            <a:off x="11706225" y="4502944"/>
            <a:ext cx="19050" cy="34290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1"/>
          <p:cNvSpPr/>
          <p:nvPr/>
        </p:nvSpPr>
        <p:spPr>
          <a:xfrm>
            <a:off x="11639550" y="4845844"/>
            <a:ext cx="152400" cy="104775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2"/>
          <p:cNvSpPr/>
          <p:nvPr/>
        </p:nvSpPr>
        <p:spPr>
          <a:xfrm>
            <a:off x="5372100" y="5045869"/>
            <a:ext cx="7543800" cy="1443038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9050">
            <a:solidFill>
              <a:srgbClr val="2A75B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3"/>
          <p:cNvSpPr/>
          <p:nvPr/>
        </p:nvSpPr>
        <p:spPr>
          <a:xfrm>
            <a:off x="8526735" y="5236369"/>
            <a:ext cx="1357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 err="1">
                <a:solidFill>
                  <a:srgbClr val="2A7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Evidently</a:t>
            </a:r>
            <a:endParaRPr lang="fr-FR" sz="1800" noProof="0" dirty="0"/>
          </a:p>
        </p:txBody>
      </p:sp>
      <p:sp>
        <p:nvSpPr>
          <p:cNvPr id="18" name="Text 14"/>
          <p:cNvSpPr/>
          <p:nvPr/>
        </p:nvSpPr>
        <p:spPr>
          <a:xfrm>
            <a:off x="6997898" y="5607844"/>
            <a:ext cx="472142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40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 des distributions</a:t>
            </a:r>
            <a:endParaRPr lang="fr-FR" sz="2400" noProof="0" dirty="0"/>
          </a:p>
        </p:txBody>
      </p:sp>
      <p:sp>
        <p:nvSpPr>
          <p:cNvPr id="19" name="Text 15"/>
          <p:cNvSpPr/>
          <p:nvPr/>
        </p:nvSpPr>
        <p:spPr>
          <a:xfrm>
            <a:off x="5456084" y="6012656"/>
            <a:ext cx="737583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9091"/>
              </a:lnSpc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par variable, référence d'entraînement contre production</a:t>
            </a:r>
            <a:endParaRPr lang="fr-FR" sz="1800" noProof="0" dirty="0"/>
          </a:p>
        </p:txBody>
      </p:sp>
      <p:sp>
        <p:nvSpPr>
          <p:cNvPr id="20" name="Shape 16"/>
          <p:cNvSpPr/>
          <p:nvPr/>
        </p:nvSpPr>
        <p:spPr>
          <a:xfrm>
            <a:off x="9134475" y="6546056"/>
            <a:ext cx="19050" cy="32385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7"/>
          <p:cNvSpPr/>
          <p:nvPr/>
        </p:nvSpPr>
        <p:spPr>
          <a:xfrm>
            <a:off x="9067800" y="6869906"/>
            <a:ext cx="152400" cy="104775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18"/>
          <p:cNvSpPr/>
          <p:nvPr/>
        </p:nvSpPr>
        <p:spPr>
          <a:xfrm>
            <a:off x="7360890" y="6974681"/>
            <a:ext cx="39228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seuil : 20 % des variables</a:t>
            </a:r>
            <a:endParaRPr lang="fr-FR" sz="1800" noProof="0" dirty="0"/>
          </a:p>
        </p:txBody>
      </p:sp>
      <p:sp>
        <p:nvSpPr>
          <p:cNvPr id="23" name="Shape 19"/>
          <p:cNvSpPr/>
          <p:nvPr/>
        </p:nvSpPr>
        <p:spPr>
          <a:xfrm>
            <a:off x="2571750" y="7441406"/>
            <a:ext cx="4114800" cy="1304925"/>
          </a:xfrm>
          <a:prstGeom prst="roundRect">
            <a:avLst>
              <a:gd name="adj" fmla="val 8759"/>
            </a:avLst>
          </a:prstGeom>
          <a:solidFill>
            <a:srgbClr val="1D222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0"/>
          <p:cNvSpPr/>
          <p:nvPr/>
        </p:nvSpPr>
        <p:spPr>
          <a:xfrm>
            <a:off x="2819400" y="7612856"/>
            <a:ext cx="39814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fr-FR" sz="2250" noProof="0" dirty="0"/>
          </a:p>
        </p:txBody>
      </p:sp>
      <p:sp>
        <p:nvSpPr>
          <p:cNvPr id="25" name="Text 21"/>
          <p:cNvSpPr/>
          <p:nvPr/>
        </p:nvSpPr>
        <p:spPr>
          <a:xfrm>
            <a:off x="2819400" y="7984331"/>
            <a:ext cx="372808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fr-FR" sz="1800" noProof="0" dirty="0">
                <a:solidFill>
                  <a:srgbClr val="B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Dérive signalée dès qu'assez de variables s'écartent</a:t>
            </a:r>
            <a:endParaRPr lang="fr-FR" sz="1800" noProof="0" dirty="0"/>
          </a:p>
        </p:txBody>
      </p:sp>
      <p:sp>
        <p:nvSpPr>
          <p:cNvPr id="26" name="Shape 22"/>
          <p:cNvSpPr/>
          <p:nvPr/>
        </p:nvSpPr>
        <p:spPr>
          <a:xfrm>
            <a:off x="7067550" y="7441406"/>
            <a:ext cx="4133850" cy="1304925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3"/>
          <p:cNvSpPr/>
          <p:nvPr/>
        </p:nvSpPr>
        <p:spPr>
          <a:xfrm>
            <a:off x="7324725" y="7622381"/>
            <a:ext cx="39814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</a:t>
            </a:r>
            <a:endParaRPr lang="fr-FR" sz="2250" noProof="0" dirty="0"/>
          </a:p>
        </p:txBody>
      </p:sp>
      <p:sp>
        <p:nvSpPr>
          <p:cNvPr id="28" name="Text 24"/>
          <p:cNvSpPr/>
          <p:nvPr/>
        </p:nvSpPr>
        <p:spPr>
          <a:xfrm>
            <a:off x="7324725" y="7993856"/>
            <a:ext cx="372808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Résumé écrit et page HTML consultable</a:t>
            </a:r>
            <a:endParaRPr lang="fr-FR" sz="1800" noProof="0" dirty="0"/>
          </a:p>
        </p:txBody>
      </p:sp>
      <p:sp>
        <p:nvSpPr>
          <p:cNvPr id="29" name="Shape 25"/>
          <p:cNvSpPr/>
          <p:nvPr/>
        </p:nvSpPr>
        <p:spPr>
          <a:xfrm>
            <a:off x="11582400" y="7441406"/>
            <a:ext cx="4133850" cy="1304925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Text 26"/>
          <p:cNvSpPr/>
          <p:nvPr/>
        </p:nvSpPr>
        <p:spPr>
          <a:xfrm>
            <a:off x="11839575" y="7622381"/>
            <a:ext cx="39814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25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</a:t>
            </a:r>
            <a:endParaRPr lang="fr-FR" sz="2250" noProof="0" dirty="0"/>
          </a:p>
        </p:txBody>
      </p:sp>
      <p:sp>
        <p:nvSpPr>
          <p:cNvPr id="31" name="Text 27"/>
          <p:cNvSpPr/>
          <p:nvPr/>
        </p:nvSpPr>
        <p:spPr>
          <a:xfrm>
            <a:off x="11839575" y="7993856"/>
            <a:ext cx="372808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fr-FR" sz="18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jeudi à 03:00 UTC, sans intervention</a:t>
            </a:r>
            <a:endParaRPr lang="fr-FR" sz="18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810512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kern="0" spc="273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RÉSULTAT DE L'EXEMPLE</a:t>
            </a:r>
            <a:endParaRPr lang="fr-FR" sz="1950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1271588"/>
            <a:ext cx="18105120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4650" b="1" kern="0" spc="-93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du rapport de dérive</a:t>
            </a:r>
            <a:endParaRPr lang="fr-FR" sz="465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2276475"/>
            <a:ext cx="850461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315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Dérive détectée</a:t>
            </a:r>
            <a:endParaRPr lang="fr-FR" sz="3150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2924175"/>
            <a:ext cx="7963416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081"/>
              </a:lnSpc>
              <a:buNone/>
            </a:pPr>
            <a:r>
              <a:rPr lang="fr-FR" sz="240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rapport classe toutes les variables par score de dérive. On voit donc non seulement qu'il y a un écart, mais où il se trouve.</a:t>
            </a:r>
            <a:endParaRPr lang="fr-FR" sz="2400" noProof="0" dirty="0"/>
          </a:p>
        </p:txBody>
      </p:sp>
      <p:sp>
        <p:nvSpPr>
          <p:cNvPr id="6" name="Shape 4"/>
          <p:cNvSpPr/>
          <p:nvPr/>
        </p:nvSpPr>
        <p:spPr>
          <a:xfrm>
            <a:off x="914400" y="4413796"/>
            <a:ext cx="7731472" cy="1384846"/>
          </a:xfrm>
          <a:prstGeom prst="roundRect">
            <a:avLst>
              <a:gd name="adj" fmla="val 8254"/>
            </a:avLst>
          </a:prstGeom>
          <a:solidFill>
            <a:srgbClr val="1D222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1181100" y="4810944"/>
            <a:ext cx="103629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9F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à retenir</a:t>
            </a:r>
            <a:endParaRPr lang="fr-FR" sz="1800" noProof="0" dirty="0"/>
          </a:p>
        </p:txBody>
      </p:sp>
      <p:sp>
        <p:nvSpPr>
          <p:cNvPr id="8" name="Text 6"/>
          <p:cNvSpPr/>
          <p:nvPr/>
        </p:nvSpPr>
        <p:spPr>
          <a:xfrm>
            <a:off x="2331690" y="4623346"/>
            <a:ext cx="6228906" cy="1003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667"/>
              </a:lnSpc>
              <a:buNone/>
            </a:pPr>
            <a:r>
              <a:rPr lang="fr-FR" sz="1950" noProof="0" dirty="0">
                <a:solidFill>
                  <a:srgbClr val="D7D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Rien n'est déclenché automatiquement. Le rapport dit que le modèle demande un traitement ; le choix du traitement reste humain.</a:t>
            </a:r>
            <a:endParaRPr lang="fr-FR" sz="1950" noProof="0" dirty="0"/>
          </a:p>
        </p:txBody>
      </p:sp>
      <p:sp>
        <p:nvSpPr>
          <p:cNvPr id="9" name="Text 7"/>
          <p:cNvSpPr/>
          <p:nvPr/>
        </p:nvSpPr>
        <p:spPr>
          <a:xfrm>
            <a:off x="9255472" y="2276475"/>
            <a:ext cx="892994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kern="0" spc="195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 TRAITEMENTS POSSIBLES</a:t>
            </a:r>
            <a:endParaRPr lang="fr-FR" sz="1950" noProof="0" dirty="0"/>
          </a:p>
        </p:txBody>
      </p:sp>
      <p:sp>
        <p:nvSpPr>
          <p:cNvPr id="10" name="Shape 8"/>
          <p:cNvSpPr/>
          <p:nvPr/>
        </p:nvSpPr>
        <p:spPr>
          <a:xfrm>
            <a:off x="9255472" y="2767013"/>
            <a:ext cx="8118128" cy="1107728"/>
          </a:xfrm>
          <a:prstGeom prst="roundRect">
            <a:avLst>
              <a:gd name="adj" fmla="val 8599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9493597" y="2967038"/>
            <a:ext cx="840606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40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Réentraîner sur des données récentes</a:t>
            </a:r>
            <a:endParaRPr lang="fr-FR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9493597" y="3352800"/>
            <a:ext cx="840606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667"/>
              </a:lnSpc>
              <a:buNone/>
            </a:pPr>
            <a:r>
              <a:rPr lang="fr-FR" sz="195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population scorée a durablement changé</a:t>
            </a:r>
            <a:endParaRPr lang="fr-FR" sz="1950" noProof="0" dirty="0"/>
          </a:p>
        </p:txBody>
      </p:sp>
      <p:sp>
        <p:nvSpPr>
          <p:cNvPr id="13" name="Shape 11"/>
          <p:cNvSpPr/>
          <p:nvPr/>
        </p:nvSpPr>
        <p:spPr>
          <a:xfrm>
            <a:off x="9255472" y="4046190"/>
            <a:ext cx="8118128" cy="1107728"/>
          </a:xfrm>
          <a:prstGeom prst="roundRect">
            <a:avLst>
              <a:gd name="adj" fmla="val 8599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9493597" y="4246215"/>
            <a:ext cx="840606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40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Revoir le seuil de décision</a:t>
            </a:r>
            <a:endParaRPr lang="fr-FR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9493597" y="4631978"/>
            <a:ext cx="840606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667"/>
              </a:lnSpc>
              <a:buNone/>
            </a:pPr>
            <a:r>
              <a:rPr lang="fr-FR" sz="195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les scores glissent sans que le risque réel bouge</a:t>
            </a:r>
            <a:endParaRPr lang="fr-FR" sz="1950" noProof="0" dirty="0"/>
          </a:p>
        </p:txBody>
      </p:sp>
      <p:sp>
        <p:nvSpPr>
          <p:cNvPr id="16" name="Shape 14"/>
          <p:cNvSpPr/>
          <p:nvPr/>
        </p:nvSpPr>
        <p:spPr>
          <a:xfrm>
            <a:off x="9255472" y="5325368"/>
            <a:ext cx="8118128" cy="1107728"/>
          </a:xfrm>
          <a:prstGeom prst="roundRect">
            <a:avLst>
              <a:gd name="adj" fmla="val 8599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5"/>
          <p:cNvSpPr/>
          <p:nvPr/>
        </p:nvSpPr>
        <p:spPr>
          <a:xfrm>
            <a:off x="9493597" y="5525393"/>
            <a:ext cx="840606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40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Reprendre la conception du modèle</a:t>
            </a:r>
            <a:endParaRPr lang="fr-FR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9493597" y="5911155"/>
            <a:ext cx="840606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667"/>
              </a:lnSpc>
              <a:buNone/>
            </a:pPr>
            <a:r>
              <a:rPr lang="fr-FR" sz="195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Revoir les variables et l'entraînement à partir des nouvelles données</a:t>
            </a:r>
            <a:endParaRPr lang="fr-FR" sz="195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1810512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kern="0" spc="273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OPTIMISATION</a:t>
            </a:r>
            <a:endParaRPr lang="fr-FR" sz="1950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1004887"/>
            <a:ext cx="18105120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3900" b="1" kern="0" spc="-78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 suivie</a:t>
            </a:r>
            <a:endParaRPr lang="fr-FR" sz="3900" noProof="0" dirty="0"/>
          </a:p>
        </p:txBody>
      </p:sp>
      <p:sp>
        <p:nvSpPr>
          <p:cNvPr id="4" name="Shape 2"/>
          <p:cNvSpPr/>
          <p:nvPr/>
        </p:nvSpPr>
        <p:spPr>
          <a:xfrm>
            <a:off x="3248025" y="2664619"/>
            <a:ext cx="11791950" cy="962025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3524250" y="2962275"/>
            <a:ext cx="6096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250" noProof="0" dirty="0">
                <a:solidFill>
                  <a:srgbClr val="2A7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fr-FR" sz="2250" noProof="0" dirty="0"/>
          </a:p>
        </p:txBody>
      </p:sp>
      <p:sp>
        <p:nvSpPr>
          <p:cNvPr id="6" name="Text 4"/>
          <p:cNvSpPr/>
          <p:nvPr/>
        </p:nvSpPr>
        <p:spPr>
          <a:xfrm>
            <a:off x="4305300" y="2981325"/>
            <a:ext cx="39814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40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Mesurer avant de toucher</a:t>
            </a:r>
            <a:endParaRPr lang="fr-FR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172450" y="2826544"/>
            <a:ext cx="6789039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Profilage de la chaîne d'inférence, sur un jeu de requêtes simulées</a:t>
            </a:r>
            <a:endParaRPr lang="fr-FR" sz="1950" noProof="0" dirty="0"/>
          </a:p>
        </p:txBody>
      </p:sp>
      <p:sp>
        <p:nvSpPr>
          <p:cNvPr id="8" name="Shape 6"/>
          <p:cNvSpPr/>
          <p:nvPr/>
        </p:nvSpPr>
        <p:spPr>
          <a:xfrm>
            <a:off x="9134475" y="3664744"/>
            <a:ext cx="19050" cy="24765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7"/>
          <p:cNvSpPr/>
          <p:nvPr/>
        </p:nvSpPr>
        <p:spPr>
          <a:xfrm>
            <a:off x="9077325" y="3912394"/>
            <a:ext cx="133350" cy="9525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8"/>
          <p:cNvSpPr/>
          <p:nvPr/>
        </p:nvSpPr>
        <p:spPr>
          <a:xfrm>
            <a:off x="3248025" y="4045744"/>
            <a:ext cx="11791950" cy="690563"/>
          </a:xfrm>
          <a:prstGeom prst="roundRect">
            <a:avLst>
              <a:gd name="adj" fmla="val 16552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3524250" y="4207669"/>
            <a:ext cx="6096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250" noProof="0" dirty="0">
                <a:solidFill>
                  <a:srgbClr val="2A7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fr-FR" sz="2250" noProof="0" dirty="0"/>
          </a:p>
        </p:txBody>
      </p:sp>
      <p:sp>
        <p:nvSpPr>
          <p:cNvPr id="12" name="Text 10"/>
          <p:cNvSpPr/>
          <p:nvPr/>
        </p:nvSpPr>
        <p:spPr>
          <a:xfrm>
            <a:off x="4305300" y="4226719"/>
            <a:ext cx="39814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40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Nommer le goulot</a:t>
            </a:r>
            <a:endParaRPr lang="fr-FR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8172450" y="4231481"/>
            <a:ext cx="725043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préparation des données, et non le calcul du modèle</a:t>
            </a:r>
            <a:endParaRPr lang="fr-FR" sz="1950" noProof="0" dirty="0"/>
          </a:p>
        </p:txBody>
      </p:sp>
      <p:sp>
        <p:nvSpPr>
          <p:cNvPr id="14" name="Shape 12"/>
          <p:cNvSpPr/>
          <p:nvPr/>
        </p:nvSpPr>
        <p:spPr>
          <a:xfrm>
            <a:off x="9134475" y="4774406"/>
            <a:ext cx="19050" cy="24765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9077325" y="5022056"/>
            <a:ext cx="133350" cy="9525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4"/>
          <p:cNvSpPr/>
          <p:nvPr/>
        </p:nvSpPr>
        <p:spPr>
          <a:xfrm>
            <a:off x="3248025" y="5155406"/>
            <a:ext cx="11791950" cy="962025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5"/>
          <p:cNvSpPr/>
          <p:nvPr/>
        </p:nvSpPr>
        <p:spPr>
          <a:xfrm>
            <a:off x="3524250" y="5453063"/>
            <a:ext cx="6096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250" noProof="0" dirty="0">
                <a:solidFill>
                  <a:srgbClr val="2A7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fr-FR" sz="2250" noProof="0" dirty="0"/>
          </a:p>
        </p:txBody>
      </p:sp>
      <p:sp>
        <p:nvSpPr>
          <p:cNvPr id="18" name="Text 16"/>
          <p:cNvSpPr/>
          <p:nvPr/>
        </p:nvSpPr>
        <p:spPr>
          <a:xfrm>
            <a:off x="4305300" y="5472113"/>
            <a:ext cx="39814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40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Changer une seule chose</a:t>
            </a:r>
            <a:endParaRPr lang="fr-FR" sz="2400" noProof="0" dirty="0"/>
          </a:p>
        </p:txBody>
      </p:sp>
      <p:sp>
        <p:nvSpPr>
          <p:cNvPr id="19" name="Text 17"/>
          <p:cNvSpPr/>
          <p:nvPr/>
        </p:nvSpPr>
        <p:spPr>
          <a:xfrm>
            <a:off x="8172450" y="5317331"/>
            <a:ext cx="5891815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complet converti en ONNX dans le registre </a:t>
            </a:r>
            <a:r>
              <a:rPr lang="fr-FR" sz="1950" noProof="0" dirty="0" err="1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</a:t>
            </a:r>
            <a:r>
              <a:rPr lang="fr-FR" sz="195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qui reste la source du modèle</a:t>
            </a:r>
            <a:endParaRPr lang="fr-FR" sz="1950" noProof="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14140309" y="5522119"/>
            <a:ext cx="623441" cy="2286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9134475" y="6155531"/>
            <a:ext cx="19050" cy="24765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9"/>
          <p:cNvSpPr/>
          <p:nvPr/>
        </p:nvSpPr>
        <p:spPr>
          <a:xfrm>
            <a:off x="9077325" y="6403181"/>
            <a:ext cx="133350" cy="9525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20"/>
          <p:cNvSpPr/>
          <p:nvPr/>
        </p:nvSpPr>
        <p:spPr>
          <a:xfrm>
            <a:off x="3248025" y="6536531"/>
            <a:ext cx="11791950" cy="962025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1"/>
          <p:cNvSpPr/>
          <p:nvPr/>
        </p:nvSpPr>
        <p:spPr>
          <a:xfrm>
            <a:off x="3524250" y="6834188"/>
            <a:ext cx="6096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250" noProof="0" dirty="0">
                <a:solidFill>
                  <a:srgbClr val="2A7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fr-FR" sz="2250" noProof="0" dirty="0"/>
          </a:p>
        </p:txBody>
      </p:sp>
      <p:sp>
        <p:nvSpPr>
          <p:cNvPr id="25" name="Text 22"/>
          <p:cNvSpPr/>
          <p:nvPr/>
        </p:nvSpPr>
        <p:spPr>
          <a:xfrm>
            <a:off x="4305300" y="6853238"/>
            <a:ext cx="39814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40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la non-régression</a:t>
            </a:r>
            <a:endParaRPr lang="fr-FR" sz="2400" noProof="0" dirty="0"/>
          </a:p>
        </p:txBody>
      </p:sp>
      <p:sp>
        <p:nvSpPr>
          <p:cNvPr id="26" name="Text 23"/>
          <p:cNvSpPr/>
          <p:nvPr/>
        </p:nvSpPr>
        <p:spPr>
          <a:xfrm>
            <a:off x="8172450" y="6698456"/>
            <a:ext cx="6789039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Mêmes métriques de classification, mêmes décisions au même seuil</a:t>
            </a:r>
            <a:endParaRPr lang="fr-FR" sz="1950" noProof="0" dirty="0"/>
          </a:p>
        </p:txBody>
      </p:sp>
      <p:sp>
        <p:nvSpPr>
          <p:cNvPr id="27" name="Shape 24"/>
          <p:cNvSpPr/>
          <p:nvPr/>
        </p:nvSpPr>
        <p:spPr>
          <a:xfrm>
            <a:off x="9134475" y="7536656"/>
            <a:ext cx="19050" cy="24765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Shape 25"/>
          <p:cNvSpPr/>
          <p:nvPr/>
        </p:nvSpPr>
        <p:spPr>
          <a:xfrm>
            <a:off x="9077325" y="7784306"/>
            <a:ext cx="133350" cy="95250"/>
          </a:xfrm>
          <a:prstGeom prst="rect">
            <a:avLst/>
          </a:prstGeom>
          <a:solidFill>
            <a:srgbClr val="B7B4A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Shape 26"/>
          <p:cNvSpPr/>
          <p:nvPr/>
        </p:nvSpPr>
        <p:spPr>
          <a:xfrm>
            <a:off x="3257550" y="7917656"/>
            <a:ext cx="11772900" cy="942975"/>
          </a:xfrm>
          <a:prstGeom prst="roundRect">
            <a:avLst>
              <a:gd name="adj" fmla="val 12121"/>
            </a:avLst>
          </a:prstGeom>
          <a:solidFill>
            <a:srgbClr val="1D222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Text 27"/>
          <p:cNvSpPr/>
          <p:nvPr/>
        </p:nvSpPr>
        <p:spPr>
          <a:xfrm>
            <a:off x="3524250" y="8205788"/>
            <a:ext cx="6096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250" noProof="0" dirty="0">
                <a:solidFill>
                  <a:srgbClr val="9F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fr-FR" sz="2250" noProof="0" dirty="0"/>
          </a:p>
        </p:txBody>
      </p:sp>
      <p:sp>
        <p:nvSpPr>
          <p:cNvPr id="31" name="Text 28"/>
          <p:cNvSpPr/>
          <p:nvPr/>
        </p:nvSpPr>
        <p:spPr>
          <a:xfrm>
            <a:off x="4305300" y="8224837"/>
            <a:ext cx="39814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400" b="1" noProof="0" dirty="0" err="1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Re-mesurer</a:t>
            </a:r>
            <a:r>
              <a:rPr lang="fr-FR" sz="2400" b="1" noProof="0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</a:t>
            </a:r>
            <a:r>
              <a:rPr lang="fr-FR" sz="2400" b="1" noProof="0" dirty="0" err="1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endParaRPr lang="fr-FR" sz="2400" noProof="0" dirty="0"/>
          </a:p>
        </p:txBody>
      </p:sp>
      <p:sp>
        <p:nvSpPr>
          <p:cNvPr id="32" name="Text 29"/>
          <p:cNvSpPr/>
          <p:nvPr/>
        </p:nvSpPr>
        <p:spPr>
          <a:xfrm>
            <a:off x="8172450" y="8070056"/>
            <a:ext cx="6789039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D7D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 des latences p95, avant et après, dans le même environnement</a:t>
            </a:r>
            <a:endParaRPr lang="fr-FR" sz="195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D2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810512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kern="0" spc="273" noProof="0" dirty="0">
                <a:solidFill>
                  <a:srgbClr val="8F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OPTIMISATION</a:t>
            </a:r>
            <a:endParaRPr lang="fr-FR" sz="1950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1290638"/>
            <a:ext cx="18105120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4650" b="1" kern="0" spc="-93" noProof="0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d'inférence divisé par dix-neuf</a:t>
            </a:r>
            <a:endParaRPr lang="fr-FR" sz="465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4505846"/>
            <a:ext cx="334649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8F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avant</a:t>
            </a:r>
            <a:endParaRPr lang="fr-FR" sz="1950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4920183"/>
            <a:ext cx="3346497" cy="116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158"/>
              </a:lnSpc>
              <a:buNone/>
            </a:pPr>
            <a:r>
              <a:rPr lang="fr-FR" sz="9900" b="1" kern="0" spc="-297" noProof="0" dirty="0">
                <a:solidFill>
                  <a:srgbClr val="8F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94,7</a:t>
            </a:r>
            <a:r>
              <a:rPr lang="fr-FR" sz="4200" b="1" kern="0" spc="-297" noProof="0" dirty="0">
                <a:solidFill>
                  <a:srgbClr val="8F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</a:t>
            </a:r>
            <a:endParaRPr lang="fr-FR" sz="9900" noProof="0" dirty="0"/>
          </a:p>
        </p:txBody>
      </p:sp>
      <p:sp>
        <p:nvSpPr>
          <p:cNvPr id="6" name="Shape 4"/>
          <p:cNvSpPr/>
          <p:nvPr/>
        </p:nvSpPr>
        <p:spPr>
          <a:xfrm>
            <a:off x="4718670" y="5646911"/>
            <a:ext cx="666750" cy="28575"/>
          </a:xfrm>
          <a:prstGeom prst="rect">
            <a:avLst/>
          </a:prstGeom>
          <a:solidFill>
            <a:srgbClr val="7D8A8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5442570" y="5556424"/>
            <a:ext cx="142875" cy="209550"/>
          </a:xfrm>
          <a:prstGeom prst="rect">
            <a:avLst/>
          </a:prstGeom>
          <a:solidFill>
            <a:srgbClr val="7D8A8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6347445" y="4505846"/>
            <a:ext cx="261888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9FD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après</a:t>
            </a:r>
            <a:endParaRPr lang="fr-FR" sz="1950" noProof="0" dirty="0"/>
          </a:p>
        </p:txBody>
      </p:sp>
      <p:sp>
        <p:nvSpPr>
          <p:cNvPr id="9" name="Text 7"/>
          <p:cNvSpPr/>
          <p:nvPr/>
        </p:nvSpPr>
        <p:spPr>
          <a:xfrm>
            <a:off x="6347445" y="4920183"/>
            <a:ext cx="2618884" cy="116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158"/>
              </a:lnSpc>
              <a:buNone/>
            </a:pPr>
            <a:r>
              <a:rPr lang="fr-FR" sz="9900" b="1" kern="0" spc="-297" noProof="0" dirty="0">
                <a:solidFill>
                  <a:srgbClr val="9FD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</a:t>
            </a:r>
            <a:r>
              <a:rPr lang="fr-FR" sz="4200" b="1" kern="0" spc="-297" noProof="0" dirty="0">
                <a:solidFill>
                  <a:srgbClr val="9FD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</a:t>
            </a:r>
            <a:endParaRPr lang="fr-FR" sz="9900" noProof="0" dirty="0"/>
          </a:p>
        </p:txBody>
      </p:sp>
      <p:sp>
        <p:nvSpPr>
          <p:cNvPr id="10" name="Text 8"/>
          <p:cNvSpPr/>
          <p:nvPr/>
        </p:nvSpPr>
        <p:spPr>
          <a:xfrm>
            <a:off x="9490249" y="5142086"/>
            <a:ext cx="286150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B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p95, mesuré en </a:t>
            </a:r>
            <a:r>
              <a:rPr lang="fr-FR" sz="1950" noProof="0" dirty="0" err="1">
                <a:solidFill>
                  <a:srgbClr val="B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endParaRPr lang="fr-FR" sz="1950" noProof="0" dirty="0"/>
          </a:p>
        </p:txBody>
      </p:sp>
      <p:sp>
        <p:nvSpPr>
          <p:cNvPr id="11" name="Text 9"/>
          <p:cNvSpPr/>
          <p:nvPr/>
        </p:nvSpPr>
        <p:spPr>
          <a:xfrm>
            <a:off x="9490249" y="5556424"/>
            <a:ext cx="286150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3150" b="1" noProof="0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 19×</a:t>
            </a:r>
            <a:endParaRPr lang="fr-FR" sz="3150" noProof="0" dirty="0"/>
          </a:p>
        </p:txBody>
      </p:sp>
      <p:sp>
        <p:nvSpPr>
          <p:cNvPr id="12" name="Shape 10"/>
          <p:cNvSpPr/>
          <p:nvPr/>
        </p:nvSpPr>
        <p:spPr>
          <a:xfrm>
            <a:off x="914400" y="8623995"/>
            <a:ext cx="7962900" cy="9525"/>
          </a:xfrm>
          <a:prstGeom prst="rect">
            <a:avLst/>
          </a:prstGeom>
          <a:solidFill>
            <a:srgbClr val="3A444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914400" y="8843070"/>
            <a:ext cx="875919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400" b="1" noProof="0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changer les résultats</a:t>
            </a:r>
            <a:endParaRPr lang="fr-FR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914400" y="9266932"/>
            <a:ext cx="875919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fr-FR" sz="1950" noProof="0" dirty="0">
                <a:solidFill>
                  <a:srgbClr val="B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Mêmes métriques de classification, mêmes décisions au même seuil</a:t>
            </a:r>
            <a:endParaRPr lang="fr-FR" sz="1950" noProof="0" dirty="0"/>
          </a:p>
        </p:txBody>
      </p:sp>
      <p:sp>
        <p:nvSpPr>
          <p:cNvPr id="15" name="Shape 13"/>
          <p:cNvSpPr/>
          <p:nvPr/>
        </p:nvSpPr>
        <p:spPr>
          <a:xfrm>
            <a:off x="9410700" y="8623995"/>
            <a:ext cx="7962900" cy="9525"/>
          </a:xfrm>
          <a:prstGeom prst="rect">
            <a:avLst/>
          </a:prstGeom>
          <a:solidFill>
            <a:srgbClr val="3A444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9410700" y="8843070"/>
            <a:ext cx="875919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400" b="1" noProof="0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Nouveau goulot : l'écriture en base</a:t>
            </a:r>
            <a:endParaRPr lang="fr-FR" sz="2400" noProof="0" dirty="0"/>
          </a:p>
        </p:txBody>
      </p:sp>
      <p:sp>
        <p:nvSpPr>
          <p:cNvPr id="17" name="Text 15"/>
          <p:cNvSpPr/>
          <p:nvPr/>
        </p:nvSpPr>
        <p:spPr>
          <a:xfrm>
            <a:off x="9410700" y="9266932"/>
            <a:ext cx="875919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fr-FR" sz="1950" noProof="0" dirty="0">
                <a:solidFill>
                  <a:srgbClr val="B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 assumé : la trace est garantie avant que la réponse ne parte</a:t>
            </a:r>
            <a:endParaRPr lang="fr-FR" sz="195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19100"/>
            <a:ext cx="339110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3450" b="1" kern="0" spc="-69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d'ensemble</a:t>
            </a:r>
            <a:endParaRPr lang="fr-FR" sz="3450" noProof="0" dirty="0"/>
          </a:p>
        </p:txBody>
      </p:sp>
      <p:sp>
        <p:nvSpPr>
          <p:cNvPr id="3" name="Text 1"/>
          <p:cNvSpPr/>
          <p:nvPr/>
        </p:nvSpPr>
        <p:spPr>
          <a:xfrm>
            <a:off x="4263926" y="552450"/>
            <a:ext cx="365009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fait quoi, et qui parle à qui</a:t>
            </a:r>
            <a:endParaRPr lang="fr-FR" sz="1950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028700"/>
            <a:ext cx="16459200" cy="8915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D2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810512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kern="0" spc="273" noProof="0" dirty="0">
                <a:solidFill>
                  <a:srgbClr val="8F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SUIVANTE</a:t>
            </a:r>
            <a:endParaRPr lang="fr-FR" sz="1950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550569"/>
            <a:ext cx="18105120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075"/>
              </a:lnSpc>
              <a:buNone/>
            </a:pPr>
            <a:r>
              <a:rPr lang="fr-FR" sz="9600" b="1" kern="0" spc="-288" noProof="0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fr-FR" sz="9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9201150"/>
            <a:ext cx="430600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400" noProof="0" dirty="0">
                <a:solidFill>
                  <a:srgbClr val="B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requête de bout en bout</a:t>
            </a:r>
            <a:endParaRPr lang="fr-FR" sz="2400" noProof="0" dirty="0"/>
          </a:p>
        </p:txBody>
      </p:sp>
      <p:sp>
        <p:nvSpPr>
          <p:cNvPr id="5" name="Text 3"/>
          <p:cNvSpPr/>
          <p:nvPr/>
        </p:nvSpPr>
        <p:spPr>
          <a:xfrm>
            <a:off x="5362352" y="9201150"/>
            <a:ext cx="420106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400" noProof="0" dirty="0">
                <a:solidFill>
                  <a:srgbClr val="B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tableau de bord en direct</a:t>
            </a:r>
            <a:endParaRPr lang="fr-FR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9714905" y="9201150"/>
            <a:ext cx="301588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400" noProof="0" dirty="0">
                <a:solidFill>
                  <a:srgbClr val="B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rapport de dérive</a:t>
            </a:r>
            <a:endParaRPr lang="fr-FR" sz="2400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57162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kern="0" spc="273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CONCLUSION</a:t>
            </a:r>
            <a:endParaRPr lang="fr-FR" sz="1950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1385888"/>
            <a:ext cx="14716125" cy="2182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41"/>
              </a:lnSpc>
              <a:buNone/>
            </a:pPr>
            <a:r>
              <a:rPr lang="fr-FR" sz="3150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solution transforme un modèle versionné en service exploitable : elle répond, valide, persiste, s'observe, détecte le drift, se déploie automatiquement et a été optimisée à partir de mesures faites sur un trafic simulé.</a:t>
            </a:r>
            <a:endParaRPr lang="fr-FR" sz="315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6688634"/>
            <a:ext cx="1810512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kern="0" spc="195" noProof="0" dirty="0">
                <a:solidFill>
                  <a:srgbClr val="8F8D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PROCHAINES ÉTAPES</a:t>
            </a:r>
            <a:endParaRPr lang="fr-FR" sz="1950" noProof="0" dirty="0"/>
          </a:p>
        </p:txBody>
      </p:sp>
      <p:sp>
        <p:nvSpPr>
          <p:cNvPr id="5" name="Shape 3"/>
          <p:cNvSpPr/>
          <p:nvPr/>
        </p:nvSpPr>
        <p:spPr>
          <a:xfrm>
            <a:off x="914400" y="7236321"/>
            <a:ext cx="5257800" cy="2364879"/>
          </a:xfrm>
          <a:prstGeom prst="roundRect">
            <a:avLst>
              <a:gd name="adj" fmla="val 5639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1190625" y="7531596"/>
            <a:ext cx="517588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40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 le goulot de persistance</a:t>
            </a:r>
            <a:endParaRPr lang="fr-FR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1190625" y="7974509"/>
            <a:ext cx="484651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fr-FR" sz="195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Écrire la trace sans allonger la réponse, tout en gardant la garantie</a:t>
            </a:r>
            <a:endParaRPr lang="fr-FR" sz="1950" noProof="0" dirty="0"/>
          </a:p>
        </p:txBody>
      </p:sp>
      <p:sp>
        <p:nvSpPr>
          <p:cNvPr id="8" name="Shape 6"/>
          <p:cNvSpPr/>
          <p:nvPr/>
        </p:nvSpPr>
        <p:spPr>
          <a:xfrm>
            <a:off x="6515100" y="7236321"/>
            <a:ext cx="5257800" cy="2364879"/>
          </a:xfrm>
          <a:prstGeom prst="roundRect">
            <a:avLst>
              <a:gd name="adj" fmla="val 5639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6791325" y="7531596"/>
            <a:ext cx="484651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240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Recalculer les scores à chaque nouveau modèle</a:t>
            </a:r>
            <a:endParaRPr lang="fr-FR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6791325" y="8303121"/>
            <a:ext cx="4846511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fr-FR" sz="195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Suivre l'évolution du score de chaque client d'une version de modèle à la suivante</a:t>
            </a:r>
            <a:endParaRPr lang="fr-FR" sz="1950" noProof="0" dirty="0"/>
          </a:p>
        </p:txBody>
      </p:sp>
      <p:sp>
        <p:nvSpPr>
          <p:cNvPr id="11" name="Shape 9"/>
          <p:cNvSpPr/>
          <p:nvPr/>
        </p:nvSpPr>
        <p:spPr>
          <a:xfrm>
            <a:off x="12115800" y="7236321"/>
            <a:ext cx="5257800" cy="2364879"/>
          </a:xfrm>
          <a:prstGeom prst="roundRect">
            <a:avLst>
              <a:gd name="adj" fmla="val 5639"/>
            </a:avLst>
          </a:prstGeom>
          <a:solidFill>
            <a:srgbClr val="FFFFFF"/>
          </a:solidFill>
          <a:ln w="9525">
            <a:solidFill>
              <a:srgbClr val="DCD9D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12392025" y="7531596"/>
            <a:ext cx="484651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fr-FR" sz="2400" b="1" noProof="0" dirty="0">
                <a:solidFill>
                  <a:srgbClr val="17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Récupérer la décision de la banque</a:t>
            </a:r>
            <a:endParaRPr lang="fr-FR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12392025" y="8303121"/>
            <a:ext cx="4846511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fr-FR" sz="1950" noProof="0" dirty="0">
                <a:solidFill>
                  <a:srgbClr val="5F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décision retenue sur chaque dossier constitue un nouveau jeu d'entraînement, précieux face à la dérive</a:t>
            </a:r>
            <a:endParaRPr lang="fr-FR" sz="195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1436</Words>
  <Application>Microsoft Macintosh PowerPoint</Application>
  <PresentationFormat>Personnalisé</PresentationFormat>
  <Paragraphs>284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3" baseType="lpstr">
      <vt:lpstr>Arial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Kilian LEFEVRE</cp:lastModifiedBy>
  <cp:revision>2</cp:revision>
  <dcterms:created xsi:type="dcterms:W3CDTF">2026-09-02T13:26:57Z</dcterms:created>
  <dcterms:modified xsi:type="dcterms:W3CDTF">2026-09-02T13:29:30Z</dcterms:modified>
</cp:coreProperties>
</file>